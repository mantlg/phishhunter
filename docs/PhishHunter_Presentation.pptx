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7abd41de-7040-f8ba-3524-2727a9517edc}">
          <p14:sldIdLst>
            <p14:sldId id="256"/>
            <p14:sldId id="257"/>
          </p14:sldIdLst>
        </p14:section>
        <p14:section name="Solution" id="{e26d9312-ce83-e5d9-a0b9-0af7d504eae1}">
          <p14:sldIdLst>
            <p14:sldId id="258"/>
            <p14:sldId id="259"/>
            <p14:sldId id="260"/>
          </p14:sldIdLst>
        </p14:section>
        <p14:section name="Demo and results" id="{d59775de-a5f3-6b1a-2e8e-00da8469e5d0}">
          <p14:sldIdLst>
            <p14:sldId id="261"/>
            <p14:sldId id="262"/>
          </p14:sldIdLst>
        </p14:section>
        <p14:section name="Close" id="{7b294cff-73f7-94a1-8d38-800004fe91a6}">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Hi, I'm Manikantan. My project is PhishHunter, a multi-agent system for the cybersecurity domain. It takes an email an employee reports as phishing, investigates it the way a security analyst would, and contains it if it's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(0:20-0:55) Companies train employees to click "Report phishing", but someone in the security team then has to investigate each report by hand: check the sender, look up every link and attachment, read the text, find who else got it and who clicked, then block and clean up. Most reports are harmless, so this is slow and repetitive, and the real attacks keep spreading while they sit in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(0:55-1:20) This is a good fit for agentic AI because the work naturally splits into specialist roles that can run in parallel, each needs tools rather than just text generation, and what we find decides the next step. I use the LLM only where judgement on language is needed: understanding what the email wants the reader to do, and writing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(1:20-2:05) Here's the workflow. The Intake agent extracts every indicator. Then three agents run in parallel: Header Forensics checks SPF, DKIM, DMARC and look-alike domains; Threat Intel checks domains, IPs and file hashes; the Content Analyst uses Gemini to find social-engineering tactics. Every red flag is a signal worth points. Risk Scoring adds them up: 80 or more goes straight to the Response agent, 40 to 79 pauses for a human analyst, and under 40 is closed. Finally the Report agent writes the incident summary and replies to the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(2:05-2:35) The score is a sum of fixed points for each red flag, capped at 100, so I can always explain why an email was flagged. The important design choice is the grey zone: between 40 and 79 the LangGraph workflow pauses using interrupt(), and a human analyst decides. That way the AI never takes a disruptive action, like holding a vendor payment, on uncertain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(2:35-4:00) SWITCH TO THE APP (streamlit run app.py). 1) Pick E1, press Run: point at the agent trace, the evidence table and the actions: 14 mailboxes quarantined, Amit's password reset because he entered it. 2) Pick E5: it passes SPF, DKIM and DMARC and has no threat-intel hit, so a normal filter lets it in. PhishHunter still spots the 9-day-old look-alike domain and the bank-change request, scores 65, and stops. Click Confirm MALICIOUS: the graph resumes and holds payment PO-4471. 3) Pick E7: score 0, closed, reporter thanked. If time allows, open the SOC dashboard tab and press Triage all. BACKUP: if the app fails, run python run_cli.py --auto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(4:00-4:25) Across all seven test emails, every one took the expected route: four were contained automatically, one went to a human, and the two legitimate emails were closed without any false alarm. Note E2: the fake CEO used Gmail, so the agent blocks only that address, not all of gmail.com.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(4:25-4:50) It's built on LangGraph with Gemini's free tier, and it falls back to rules if there's no internet, so the demo never breaks. The main limitations are hand-set weights and simulated data. Next I'd connect real mail and threat-intel APIs and learn the weights from the analyst's decisions on grey-zone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(4:50-5:00) To sum up: PhishHunter turns a slow manual queue into seconds of automated triage, and keeps a human in charge of the hard calls.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A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algn="l" indent="0" marL="0">
              <a:buNone/>
              <a:defRPr lang="en-US" sz="6000" b="1" dirty="0">
                <a:solidFill>
                  <a:srgbClr val="F4F2EC"/>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777240"/>
            <a:ext cx="10698480" cy="822960"/>
          </a:xfrm>
          <a:prstGeom prst="rect">
            <a:avLst/>
          </a:prstGeom>
          <a:noFill/>
          <a:ln/>
        </p:spPr>
        <p:txBody>
          <a:bodyPr wrap="square" rtlCol="0"/>
          <a:lstStyle>
            <a:lvl1pPr algn="l" indent="0" marL="0">
              <a:buNone/>
              <a:defRPr lang="en-US" sz="3200" b="1" dirty="0">
                <a:solidFill>
                  <a:srgbClr val="121A2B"/>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E8833A"/>
                </a:solidFill>
                <a:latin typeface="Courier New" pitchFamily="34" charset="0"/>
                <a:ea typeface="Courier New" pitchFamily="34" charset="-122"/>
                <a:cs typeface="Courier New" pitchFamily="34" charset="-120"/>
              </a:rPr>
              <a:t>FAAI CA-3 · CASE STUDY · PROOF OF CONCEPT</a:t>
            </a:r>
            <a:endParaRPr lang="en-US" sz="1300" dirty="0"/>
          </a:p>
        </p:txBody>
      </p:sp>
      <p:sp>
        <p:nvSpPr>
          <p:cNvPr id="3" name="Text 0"/>
          <p:cNvSpPr/>
          <p:nvPr>
            <p:ph idx="100" type="title" hasCustomPrompt="1"/>
          </p:nvPr>
        </p:nvSpPr>
        <p:spPr>
          <a:xfrm>
            <a:off x="731520" y="2011680"/>
            <a:ext cx="10698480" cy="1280160"/>
          </a:xfrm>
          <a:prstGeom prst="rect">
            <a:avLst/>
          </a:prstGeom>
          <a:noFill/>
          <a:ln/>
        </p:spPr>
        <p:txBody>
          <a:bodyPr wrap="square" lIns="0" tIns="0" rIns="0" bIns="0" rtlCol="0"/>
          <a:lstStyle/>
          <a:p>
            <a:pPr algn="l" indent="0" marL="0">
              <a:buNone/>
            </a:pPr>
            <a:r>
              <a:rPr lang="en-US" sz="6000" b="1" dirty="0">
                <a:solidFill>
                  <a:srgbClr val="F4F2EC"/>
                </a:solidFill>
              </a:rPr>
              <a:t>PhishHunter</a:t>
            </a:r>
            <a:endParaRPr lang="en-US" sz="6000" dirty="0"/>
          </a:p>
        </p:txBody>
      </p:sp>
      <p:sp>
        <p:nvSpPr>
          <p:cNvPr id="4" name="Text 2"/>
          <p:cNvSpPr txBox="1"/>
          <p:nvPr/>
        </p:nvSpPr>
        <p:spPr>
          <a:xfrm>
            <a:off x="731520" y="3291840"/>
            <a:ext cx="8686800" cy="914400"/>
          </a:xfrm>
          <a:prstGeom prst="rect">
            <a:avLst/>
          </a:prstGeom>
          <a:noFill/>
          <a:ln/>
        </p:spPr>
        <p:txBody>
          <a:bodyPr wrap="square" lIns="0" tIns="0" rIns="0" bIns="0" rtlCol="0" anchor="ctr"/>
          <a:lstStyle/>
          <a:p>
            <a:pPr indent="0" marL="0">
              <a:buNone/>
            </a:pPr>
            <a:r>
              <a:rPr lang="en-US" sz="2200" dirty="0">
                <a:solidFill>
                  <a:srgbClr val="B9C2D3"/>
                </a:solidFill>
              </a:rPr>
              <a:t>A team of AI agents that investigates reported phishing emails and contains real attacks in seconds</a:t>
            </a:r>
            <a:endParaRPr lang="en-US" sz="2200" dirty="0"/>
          </a:p>
        </p:txBody>
      </p:sp>
      <p:sp>
        <p:nvSpPr>
          <p:cNvPr id="5" name="Text 3"/>
          <p:cNvSpPr txBox="1"/>
          <p:nvPr/>
        </p:nvSpPr>
        <p:spPr>
          <a:xfrm>
            <a:off x="731520" y="5760720"/>
            <a:ext cx="10698480" cy="457200"/>
          </a:xfrm>
          <a:prstGeom prst="rect">
            <a:avLst/>
          </a:prstGeom>
          <a:noFill/>
          <a:ln/>
        </p:spPr>
        <p:txBody>
          <a:bodyPr wrap="square" lIns="0" tIns="0" rIns="0" bIns="0" rtlCol="0" anchor="ctr"/>
          <a:lstStyle/>
          <a:p>
            <a:pPr indent="0" marL="0">
              <a:buNone/>
            </a:pPr>
            <a:r>
              <a:rPr lang="en-US" sz="1500" b="1" dirty="0">
                <a:solidFill>
                  <a:srgbClr val="F4F2EC"/>
                </a:solidFill>
              </a:rPr>
              <a:t>Manikantan Ajit Menon · PRN 24070126108</a:t>
            </a:r>
            <a:pPr indent="0" marL="0">
              <a:buNone/>
            </a:pPr>
            <a:r>
              <a:rPr lang="en-US" sz="1500" dirty="0">
                <a:solidFill>
                  <a:srgbClr val="B9C2D3"/>
                </a:solidFill>
              </a:rPr>
              <a:t>     Domain: Cybersecurity (SOC)     Built with LangGraph + Gemini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urier New" pitchFamily="34" charset="0"/>
                <a:ea typeface="Courier New" pitchFamily="34" charset="-122"/>
                <a:cs typeface="Courier New" pitchFamily="34" charset="-120"/>
              </a:rPr>
              <a:t>THE PROBLEM</a:t>
            </a:r>
            <a:endParaRPr lang="en-US" sz="1300" dirty="0"/>
          </a:p>
        </p:txBody>
      </p:sp>
      <p:sp>
        <p:nvSpPr>
          <p:cNvPr id="3" name="Text 0"/>
          <p:cNvSpPr/>
          <p:nvPr>
            <p:ph idx="100" type="title" hasCustomPrompt="1"/>
          </p:nvPr>
        </p:nvSpPr>
        <p:spPr>
          <a:xfrm>
            <a:off x="731520" y="777240"/>
            <a:ext cx="10698480" cy="822960"/>
          </a:xfrm>
          <a:prstGeom prst="rect">
            <a:avLst/>
          </a:prstGeom>
          <a:noFill/>
          <a:ln/>
        </p:spPr>
        <p:txBody>
          <a:bodyPr wrap="square" lIns="0" tIns="0" rIns="0" bIns="0" rtlCol="0" anchor="t"/>
          <a:lstStyle/>
          <a:p>
            <a:pPr algn="l" indent="0" marL="0">
              <a:buNone/>
            </a:pPr>
            <a:r>
              <a:rPr lang="en-US" sz="3200" b="1" dirty="0">
                <a:solidFill>
                  <a:srgbClr val="121A2B"/>
                </a:solidFill>
              </a:rPr>
              <a:t>Every reported email is investigated by hand, so real attacks spread while they wait in the queue</a:t>
            </a:r>
            <a:endParaRPr lang="en-US" sz="3200" dirty="0"/>
          </a:p>
        </p:txBody>
      </p:sp>
      <p:sp>
        <p:nvSpPr>
          <p:cNvPr id="4" name="Shape 2"/>
          <p:cNvSpPr/>
          <p:nvPr/>
        </p:nvSpPr>
        <p:spPr>
          <a:xfrm>
            <a:off x="731520" y="2377440"/>
            <a:ext cx="3383280" cy="2377440"/>
          </a:xfrm>
          <a:prstGeom prst="roundRect">
            <a:avLst>
              <a:gd name="adj" fmla="val 4615"/>
            </a:avLst>
          </a:prstGeom>
          <a:solidFill>
            <a:srgbClr val="F3F5F8"/>
          </a:solidFill>
          <a:ln w="12700">
            <a:solidFill>
              <a:srgbClr val="DDE1E8"/>
            </a:solidFill>
            <a:prstDash val="solid"/>
          </a:ln>
        </p:spPr>
      </p:sp>
      <p:sp>
        <p:nvSpPr>
          <p:cNvPr id="5" name="Text 3"/>
          <p:cNvSpPr txBox="1"/>
          <p:nvPr/>
        </p:nvSpPr>
        <p:spPr>
          <a:xfrm>
            <a:off x="1005840" y="2651760"/>
            <a:ext cx="2834640" cy="457200"/>
          </a:xfrm>
          <a:prstGeom prst="rect">
            <a:avLst/>
          </a:prstGeom>
          <a:noFill/>
          <a:ln/>
        </p:spPr>
        <p:txBody>
          <a:bodyPr wrap="square" lIns="0" tIns="0" rIns="0" bIns="0" rtlCol="0" anchor="t"/>
          <a:lstStyle/>
          <a:p>
            <a:pPr indent="0" marL="0">
              <a:buNone/>
            </a:pPr>
            <a:r>
              <a:rPr lang="en-US" sz="2400" b="1" dirty="0">
                <a:solidFill>
                  <a:srgbClr val="121A2B"/>
                </a:solidFill>
              </a:rPr>
              <a:t>Slow</a:t>
            </a:r>
            <a:endParaRPr lang="en-US" sz="2400" dirty="0"/>
          </a:p>
        </p:txBody>
      </p:sp>
      <p:sp>
        <p:nvSpPr>
          <p:cNvPr id="6" name="Text 4"/>
          <p:cNvSpPr txBox="1"/>
          <p:nvPr/>
        </p:nvSpPr>
        <p:spPr>
          <a:xfrm>
            <a:off x="1005840" y="3200400"/>
            <a:ext cx="2834640" cy="1371600"/>
          </a:xfrm>
          <a:prstGeom prst="rect">
            <a:avLst/>
          </a:prstGeom>
          <a:noFill/>
          <a:ln/>
        </p:spPr>
        <p:txBody>
          <a:bodyPr wrap="square" lIns="0" tIns="0" rIns="0" bIns="0" rtlCol="0" anchor="t"/>
          <a:lstStyle/>
          <a:p>
            <a:pPr indent="0" marL="0">
              <a:lnSpc>
                <a:spcPct val="110000"/>
              </a:lnSpc>
              <a:buNone/>
            </a:pPr>
            <a:r>
              <a:rPr lang="en-US" sz="1500" dirty="0">
                <a:solidFill>
                  <a:srgbClr val="4A5263"/>
                </a:solidFill>
              </a:rPr>
              <a:t>Headers, links, files, IPs and logs are checked one at a time for every report.</a:t>
            </a:r>
            <a:endParaRPr lang="en-US" sz="1500" dirty="0"/>
          </a:p>
        </p:txBody>
      </p:sp>
      <p:sp>
        <p:nvSpPr>
          <p:cNvPr id="7" name="Shape 5"/>
          <p:cNvSpPr/>
          <p:nvPr/>
        </p:nvSpPr>
        <p:spPr>
          <a:xfrm>
            <a:off x="4361688" y="2377440"/>
            <a:ext cx="3383280" cy="2377440"/>
          </a:xfrm>
          <a:prstGeom prst="roundRect">
            <a:avLst>
              <a:gd name="adj" fmla="val 4615"/>
            </a:avLst>
          </a:prstGeom>
          <a:solidFill>
            <a:srgbClr val="F3F5F8"/>
          </a:solidFill>
          <a:ln w="12700">
            <a:solidFill>
              <a:srgbClr val="DDE1E8"/>
            </a:solidFill>
            <a:prstDash val="solid"/>
          </a:ln>
        </p:spPr>
      </p:sp>
      <p:sp>
        <p:nvSpPr>
          <p:cNvPr id="8" name="Text 6"/>
          <p:cNvSpPr txBox="1"/>
          <p:nvPr/>
        </p:nvSpPr>
        <p:spPr>
          <a:xfrm>
            <a:off x="4636008" y="2651760"/>
            <a:ext cx="2834640" cy="457200"/>
          </a:xfrm>
          <a:prstGeom prst="rect">
            <a:avLst/>
          </a:prstGeom>
          <a:noFill/>
          <a:ln/>
        </p:spPr>
        <p:txBody>
          <a:bodyPr wrap="square" lIns="0" tIns="0" rIns="0" bIns="0" rtlCol="0" anchor="t"/>
          <a:lstStyle/>
          <a:p>
            <a:pPr indent="0" marL="0">
              <a:buNone/>
            </a:pPr>
            <a:r>
              <a:rPr lang="en-US" sz="2400" b="1" dirty="0">
                <a:solidFill>
                  <a:srgbClr val="121A2B"/>
                </a:solidFill>
              </a:rPr>
              <a:t>Repetitive</a:t>
            </a:r>
            <a:endParaRPr lang="en-US" sz="2400" dirty="0"/>
          </a:p>
        </p:txBody>
      </p:sp>
      <p:sp>
        <p:nvSpPr>
          <p:cNvPr id="9" name="Text 7"/>
          <p:cNvSpPr txBox="1"/>
          <p:nvPr/>
        </p:nvSpPr>
        <p:spPr>
          <a:xfrm>
            <a:off x="4636008" y="3200400"/>
            <a:ext cx="2834640" cy="1371600"/>
          </a:xfrm>
          <a:prstGeom prst="rect">
            <a:avLst/>
          </a:prstGeom>
          <a:noFill/>
          <a:ln/>
        </p:spPr>
        <p:txBody>
          <a:bodyPr wrap="square" lIns="0" tIns="0" rIns="0" bIns="0" rtlCol="0" anchor="t"/>
          <a:lstStyle/>
          <a:p>
            <a:pPr indent="0" marL="0">
              <a:lnSpc>
                <a:spcPct val="110000"/>
              </a:lnSpc>
              <a:buNone/>
            </a:pPr>
            <a:r>
              <a:rPr lang="en-US" sz="1500" dirty="0">
                <a:solidFill>
                  <a:srgbClr val="4A5263"/>
                </a:solidFill>
              </a:rPr>
              <a:t>Most reports are harmless newsletters and notifications, yet each takes the same effort.</a:t>
            </a:r>
            <a:endParaRPr lang="en-US" sz="1500" dirty="0"/>
          </a:p>
        </p:txBody>
      </p:sp>
      <p:sp>
        <p:nvSpPr>
          <p:cNvPr id="10" name="Shape 8"/>
          <p:cNvSpPr/>
          <p:nvPr/>
        </p:nvSpPr>
        <p:spPr>
          <a:xfrm>
            <a:off x="7991856" y="2377440"/>
            <a:ext cx="3383280" cy="2377440"/>
          </a:xfrm>
          <a:prstGeom prst="roundRect">
            <a:avLst>
              <a:gd name="adj" fmla="val 4615"/>
            </a:avLst>
          </a:prstGeom>
          <a:solidFill>
            <a:srgbClr val="F3F5F8"/>
          </a:solidFill>
          <a:ln w="12700">
            <a:solidFill>
              <a:srgbClr val="DDE1E8"/>
            </a:solidFill>
            <a:prstDash val="solid"/>
          </a:ln>
        </p:spPr>
      </p:sp>
      <p:sp>
        <p:nvSpPr>
          <p:cNvPr id="11" name="Text 9"/>
          <p:cNvSpPr txBox="1"/>
          <p:nvPr/>
        </p:nvSpPr>
        <p:spPr>
          <a:xfrm>
            <a:off x="8266176" y="2651760"/>
            <a:ext cx="2834640" cy="457200"/>
          </a:xfrm>
          <a:prstGeom prst="rect">
            <a:avLst/>
          </a:prstGeom>
          <a:noFill/>
          <a:ln/>
        </p:spPr>
        <p:txBody>
          <a:bodyPr wrap="square" lIns="0" tIns="0" rIns="0" bIns="0" rtlCol="0" anchor="t"/>
          <a:lstStyle/>
          <a:p>
            <a:pPr indent="0" marL="0">
              <a:buNone/>
            </a:pPr>
            <a:r>
              <a:rPr lang="en-US" sz="2400" b="1" dirty="0">
                <a:solidFill>
                  <a:srgbClr val="121A2B"/>
                </a:solidFill>
              </a:rPr>
              <a:t>Risky</a:t>
            </a:r>
            <a:endParaRPr lang="en-US" sz="2400" dirty="0"/>
          </a:p>
        </p:txBody>
      </p:sp>
      <p:sp>
        <p:nvSpPr>
          <p:cNvPr id="12" name="Text 10"/>
          <p:cNvSpPr txBox="1"/>
          <p:nvPr/>
        </p:nvSpPr>
        <p:spPr>
          <a:xfrm>
            <a:off x="8266176" y="3200400"/>
            <a:ext cx="2834640" cy="1371600"/>
          </a:xfrm>
          <a:prstGeom prst="rect">
            <a:avLst/>
          </a:prstGeom>
          <a:noFill/>
          <a:ln/>
        </p:spPr>
        <p:txBody>
          <a:bodyPr wrap="square" lIns="0" tIns="0" rIns="0" bIns="0" rtlCol="0" anchor="t"/>
          <a:lstStyle/>
          <a:p>
            <a:pPr indent="0" marL="0">
              <a:lnSpc>
                <a:spcPct val="110000"/>
              </a:lnSpc>
              <a:buNone/>
            </a:pPr>
            <a:r>
              <a:rPr lang="en-US" sz="1500" dirty="0">
                <a:solidFill>
                  <a:srgbClr val="4A5263"/>
                </a:solidFill>
              </a:rPr>
              <a:t>While a real attack waits, more people click it and enter passwords or pay.</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urier New" pitchFamily="34" charset="0"/>
                <a:ea typeface="Courier New" pitchFamily="34" charset="-122"/>
                <a:cs typeface="Courier New" pitchFamily="34" charset="-120"/>
              </a:rPr>
              <a:t>WHY AGENTIC AI</a:t>
            </a:r>
            <a:endParaRPr lang="en-US" sz="1300" dirty="0"/>
          </a:p>
        </p:txBody>
      </p:sp>
      <p:sp>
        <p:nvSpPr>
          <p:cNvPr id="3" name="Text 0"/>
          <p:cNvSpPr/>
          <p:nvPr>
            <p:ph idx="100" type="title" hasCustomPrompt="1"/>
          </p:nvPr>
        </p:nvSpPr>
        <p:spPr>
          <a:xfrm>
            <a:off x="731520" y="777240"/>
            <a:ext cx="10698480" cy="822960"/>
          </a:xfrm>
          <a:prstGeom prst="rect">
            <a:avLst/>
          </a:prstGeom>
          <a:noFill/>
          <a:ln/>
        </p:spPr>
        <p:txBody>
          <a:bodyPr wrap="square" lIns="0" tIns="0" rIns="0" bIns="0" rtlCol="0" anchor="t"/>
          <a:lstStyle/>
          <a:p>
            <a:pPr algn="l" indent="0" marL="0">
              <a:buNone/>
            </a:pPr>
            <a:r>
              <a:rPr lang="en-US" sz="3200" b="1" dirty="0">
                <a:solidFill>
                  <a:srgbClr val="121A2B"/>
                </a:solidFill>
              </a:rPr>
              <a:t>The analyst's job splits into specialist roles, each with its own tools</a:t>
            </a:r>
            <a:endParaRPr lang="en-US" sz="3200" dirty="0"/>
          </a:p>
        </p:txBody>
      </p:sp>
      <p:sp>
        <p:nvSpPr>
          <p:cNvPr id="4" name="Shape 2"/>
          <p:cNvSpPr/>
          <p:nvPr/>
        </p:nvSpPr>
        <p:spPr>
          <a:xfrm>
            <a:off x="731520" y="2103120"/>
            <a:ext cx="5257800" cy="1783080"/>
          </a:xfrm>
          <a:prstGeom prst="roundRect">
            <a:avLst>
              <a:gd name="adj" fmla="val 6154"/>
            </a:avLst>
          </a:prstGeom>
          <a:solidFill>
            <a:srgbClr val="F3F5F8"/>
          </a:solidFill>
          <a:ln w="12700">
            <a:solidFill>
              <a:srgbClr val="DDE1E8"/>
            </a:solidFill>
            <a:prstDash val="solid"/>
          </a:ln>
        </p:spPr>
      </p:sp>
      <p:sp>
        <p:nvSpPr>
          <p:cNvPr id="5" name="Text 3"/>
          <p:cNvSpPr txBox="1"/>
          <p:nvPr/>
        </p:nvSpPr>
        <p:spPr>
          <a:xfrm>
            <a:off x="1005840" y="2377440"/>
            <a:ext cx="4709160" cy="457200"/>
          </a:xfrm>
          <a:prstGeom prst="rect">
            <a:avLst/>
          </a:prstGeom>
          <a:noFill/>
          <a:ln/>
        </p:spPr>
        <p:txBody>
          <a:bodyPr wrap="square" lIns="0" tIns="0" rIns="0" bIns="0" rtlCol="0" anchor="t"/>
          <a:lstStyle/>
          <a:p>
            <a:pPr indent="0" marL="0">
              <a:buNone/>
            </a:pPr>
            <a:r>
              <a:rPr lang="en-US" sz="2200" b="1" dirty="0">
                <a:solidFill>
                  <a:srgbClr val="121A2B"/>
                </a:solidFill>
              </a:rPr>
              <a:t>Specialists in parallel</a:t>
            </a:r>
            <a:endParaRPr lang="en-US" sz="2200" dirty="0"/>
          </a:p>
        </p:txBody>
      </p:sp>
      <p:sp>
        <p:nvSpPr>
          <p:cNvPr id="6" name="Text 4"/>
          <p:cNvSpPr txBox="1"/>
          <p:nvPr/>
        </p:nvSpPr>
        <p:spPr>
          <a:xfrm>
            <a:off x="1005840" y="2926080"/>
            <a:ext cx="4709160" cy="777240"/>
          </a:xfrm>
          <a:prstGeom prst="rect">
            <a:avLst/>
          </a:prstGeom>
          <a:noFill/>
          <a:ln/>
        </p:spPr>
        <p:txBody>
          <a:bodyPr wrap="square" lIns="0" tIns="0" rIns="0" bIns="0" rtlCol="0" anchor="t"/>
          <a:lstStyle/>
          <a:p>
            <a:pPr indent="0" marL="0">
              <a:lnSpc>
                <a:spcPct val="110000"/>
              </a:lnSpc>
              <a:buNone/>
            </a:pPr>
            <a:r>
              <a:rPr lang="en-US" sz="1500" dirty="0">
                <a:solidFill>
                  <a:srgbClr val="4A5263"/>
                </a:solidFill>
              </a:rPr>
              <a:t>Header, threat-intel and content analysts investigate at the same time.</a:t>
            </a:r>
            <a:endParaRPr lang="en-US" sz="1500" dirty="0"/>
          </a:p>
        </p:txBody>
      </p:sp>
      <p:sp>
        <p:nvSpPr>
          <p:cNvPr id="7" name="Shape 5"/>
          <p:cNvSpPr/>
          <p:nvPr/>
        </p:nvSpPr>
        <p:spPr>
          <a:xfrm>
            <a:off x="6172200" y="2103120"/>
            <a:ext cx="5257800" cy="1783080"/>
          </a:xfrm>
          <a:prstGeom prst="roundRect">
            <a:avLst>
              <a:gd name="adj" fmla="val 6154"/>
            </a:avLst>
          </a:prstGeom>
          <a:solidFill>
            <a:srgbClr val="F3F5F8"/>
          </a:solidFill>
          <a:ln w="12700">
            <a:solidFill>
              <a:srgbClr val="DDE1E8"/>
            </a:solidFill>
            <a:prstDash val="solid"/>
          </a:ln>
        </p:spPr>
      </p:sp>
      <p:sp>
        <p:nvSpPr>
          <p:cNvPr id="8" name="Text 6"/>
          <p:cNvSpPr txBox="1"/>
          <p:nvPr/>
        </p:nvSpPr>
        <p:spPr>
          <a:xfrm>
            <a:off x="6446520" y="2377440"/>
            <a:ext cx="4709160" cy="457200"/>
          </a:xfrm>
          <a:prstGeom prst="rect">
            <a:avLst/>
          </a:prstGeom>
          <a:noFill/>
          <a:ln/>
        </p:spPr>
        <p:txBody>
          <a:bodyPr wrap="square" lIns="0" tIns="0" rIns="0" bIns="0" rtlCol="0" anchor="t"/>
          <a:lstStyle/>
          <a:p>
            <a:pPr indent="0" marL="0">
              <a:buNone/>
            </a:pPr>
            <a:r>
              <a:rPr lang="en-US" sz="2200" b="1" dirty="0">
                <a:solidFill>
                  <a:srgbClr val="121A2B"/>
                </a:solidFill>
              </a:rPr>
              <a:t>Tools, not just text</a:t>
            </a:r>
            <a:endParaRPr lang="en-US" sz="2200" dirty="0"/>
          </a:p>
        </p:txBody>
      </p:sp>
      <p:sp>
        <p:nvSpPr>
          <p:cNvPr id="9" name="Text 7"/>
          <p:cNvSpPr txBox="1"/>
          <p:nvPr/>
        </p:nvSpPr>
        <p:spPr>
          <a:xfrm>
            <a:off x="6446520" y="2926080"/>
            <a:ext cx="4709160" cy="777240"/>
          </a:xfrm>
          <a:prstGeom prst="rect">
            <a:avLst/>
          </a:prstGeom>
          <a:noFill/>
          <a:ln/>
        </p:spPr>
        <p:txBody>
          <a:bodyPr wrap="square" lIns="0" tIns="0" rIns="0" bIns="0" rtlCol="0" anchor="t"/>
          <a:lstStyle/>
          <a:p>
            <a:pPr indent="0" marL="0">
              <a:lnSpc>
                <a:spcPct val="110000"/>
              </a:lnSpc>
              <a:buNone/>
            </a:pPr>
            <a:r>
              <a:rPr lang="en-US" sz="1500" dirty="0">
                <a:solidFill>
                  <a:srgbClr val="4A5263"/>
                </a:solidFill>
              </a:rPr>
              <a:t>Agents look up reputations, search mailboxes, block senders and open tickets.</a:t>
            </a:r>
            <a:endParaRPr lang="en-US" sz="1500" dirty="0"/>
          </a:p>
        </p:txBody>
      </p:sp>
      <p:sp>
        <p:nvSpPr>
          <p:cNvPr id="10" name="Shape 8"/>
          <p:cNvSpPr/>
          <p:nvPr/>
        </p:nvSpPr>
        <p:spPr>
          <a:xfrm>
            <a:off x="731520" y="4114800"/>
            <a:ext cx="5257800" cy="1783080"/>
          </a:xfrm>
          <a:prstGeom prst="roundRect">
            <a:avLst>
              <a:gd name="adj" fmla="val 6154"/>
            </a:avLst>
          </a:prstGeom>
          <a:solidFill>
            <a:srgbClr val="F3F5F8"/>
          </a:solidFill>
          <a:ln w="12700">
            <a:solidFill>
              <a:srgbClr val="DDE1E8"/>
            </a:solidFill>
            <a:prstDash val="solid"/>
          </a:ln>
        </p:spPr>
      </p:sp>
      <p:sp>
        <p:nvSpPr>
          <p:cNvPr id="11" name="Text 9"/>
          <p:cNvSpPr txBox="1"/>
          <p:nvPr/>
        </p:nvSpPr>
        <p:spPr>
          <a:xfrm>
            <a:off x="1005840" y="4389120"/>
            <a:ext cx="4709160" cy="457200"/>
          </a:xfrm>
          <a:prstGeom prst="rect">
            <a:avLst/>
          </a:prstGeom>
          <a:noFill/>
          <a:ln/>
        </p:spPr>
        <p:txBody>
          <a:bodyPr wrap="square" lIns="0" tIns="0" rIns="0" bIns="0" rtlCol="0" anchor="t"/>
          <a:lstStyle/>
          <a:p>
            <a:pPr indent="0" marL="0">
              <a:buNone/>
            </a:pPr>
            <a:r>
              <a:rPr lang="en-US" sz="2200" b="1" dirty="0">
                <a:solidFill>
                  <a:srgbClr val="121A2B"/>
                </a:solidFill>
              </a:rPr>
              <a:t>Decisions change the path</a:t>
            </a:r>
            <a:endParaRPr lang="en-US" sz="2200" dirty="0"/>
          </a:p>
        </p:txBody>
      </p:sp>
      <p:sp>
        <p:nvSpPr>
          <p:cNvPr id="12" name="Text 10"/>
          <p:cNvSpPr txBox="1"/>
          <p:nvPr/>
        </p:nvSpPr>
        <p:spPr>
          <a:xfrm>
            <a:off x="1005840" y="4937760"/>
            <a:ext cx="4709160" cy="777240"/>
          </a:xfrm>
          <a:prstGeom prst="rect">
            <a:avLst/>
          </a:prstGeom>
          <a:noFill/>
          <a:ln/>
        </p:spPr>
        <p:txBody>
          <a:bodyPr wrap="square" lIns="0" tIns="0" rIns="0" bIns="0" rtlCol="0" anchor="t"/>
          <a:lstStyle/>
          <a:p>
            <a:pPr indent="0" marL="0">
              <a:lnSpc>
                <a:spcPct val="110000"/>
              </a:lnSpc>
              <a:buNone/>
            </a:pPr>
            <a:r>
              <a:rPr lang="en-US" sz="1500" dirty="0">
                <a:solidFill>
                  <a:srgbClr val="4A5263"/>
                </a:solidFill>
              </a:rPr>
              <a:t>Safe emails close, clear attacks are contained, unclear ones go to a human.</a:t>
            </a:r>
            <a:endParaRPr lang="en-US" sz="1500" dirty="0"/>
          </a:p>
        </p:txBody>
      </p:sp>
      <p:sp>
        <p:nvSpPr>
          <p:cNvPr id="13" name="Shape 11"/>
          <p:cNvSpPr/>
          <p:nvPr/>
        </p:nvSpPr>
        <p:spPr>
          <a:xfrm>
            <a:off x="6172200" y="4114800"/>
            <a:ext cx="5257800" cy="1783080"/>
          </a:xfrm>
          <a:prstGeom prst="roundRect">
            <a:avLst>
              <a:gd name="adj" fmla="val 6154"/>
            </a:avLst>
          </a:prstGeom>
          <a:solidFill>
            <a:srgbClr val="F3F5F8"/>
          </a:solidFill>
          <a:ln w="12700">
            <a:solidFill>
              <a:srgbClr val="DDE1E8"/>
            </a:solidFill>
            <a:prstDash val="solid"/>
          </a:ln>
        </p:spPr>
      </p:sp>
      <p:sp>
        <p:nvSpPr>
          <p:cNvPr id="14" name="Text 12"/>
          <p:cNvSpPr txBox="1"/>
          <p:nvPr/>
        </p:nvSpPr>
        <p:spPr>
          <a:xfrm>
            <a:off x="6446520" y="4389120"/>
            <a:ext cx="4709160" cy="457200"/>
          </a:xfrm>
          <a:prstGeom prst="rect">
            <a:avLst/>
          </a:prstGeom>
          <a:noFill/>
          <a:ln/>
        </p:spPr>
        <p:txBody>
          <a:bodyPr wrap="square" lIns="0" tIns="0" rIns="0" bIns="0" rtlCol="0" anchor="t"/>
          <a:lstStyle/>
          <a:p>
            <a:pPr indent="0" marL="0">
              <a:buNone/>
            </a:pPr>
            <a:r>
              <a:rPr lang="en-US" sz="2200" b="1" dirty="0">
                <a:solidFill>
                  <a:srgbClr val="121A2B"/>
                </a:solidFill>
              </a:rPr>
              <a:t>LLM only where it helps</a:t>
            </a:r>
            <a:endParaRPr lang="en-US" sz="2200" dirty="0"/>
          </a:p>
        </p:txBody>
      </p:sp>
      <p:sp>
        <p:nvSpPr>
          <p:cNvPr id="15" name="Text 13"/>
          <p:cNvSpPr txBox="1"/>
          <p:nvPr/>
        </p:nvSpPr>
        <p:spPr>
          <a:xfrm>
            <a:off x="6446520" y="4937760"/>
            <a:ext cx="4709160" cy="777240"/>
          </a:xfrm>
          <a:prstGeom prst="rect">
            <a:avLst/>
          </a:prstGeom>
          <a:noFill/>
          <a:ln/>
        </p:spPr>
        <p:txBody>
          <a:bodyPr wrap="square" lIns="0" tIns="0" rIns="0" bIns="0" rtlCol="0" anchor="t"/>
          <a:lstStyle/>
          <a:p>
            <a:pPr indent="0" marL="0">
              <a:lnSpc>
                <a:spcPct val="110000"/>
              </a:lnSpc>
              <a:buNone/>
            </a:pPr>
            <a:r>
              <a:rPr lang="en-US" sz="1500" dirty="0">
                <a:solidFill>
                  <a:srgbClr val="4A5263"/>
                </a:solidFill>
              </a:rPr>
              <a:t>Gemini reads the email's intent and writes the report; rules do the rest.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urier New" pitchFamily="34" charset="0"/>
                <a:ea typeface="Courier New" pitchFamily="34" charset="-122"/>
                <a:cs typeface="Courier New" pitchFamily="34" charset="-120"/>
              </a:rPr>
              <a:t>DEFINED WORKFLOW</a:t>
            </a:r>
            <a:endParaRPr lang="en-US" sz="1300" dirty="0"/>
          </a:p>
        </p:txBody>
      </p:sp>
      <p:sp>
        <p:nvSpPr>
          <p:cNvPr id="3" name="Text 0"/>
          <p:cNvSpPr/>
          <p:nvPr>
            <p:ph idx="100" type="title" hasCustomPrompt="1"/>
          </p:nvPr>
        </p:nvSpPr>
        <p:spPr>
          <a:xfrm>
            <a:off x="731520" y="777240"/>
            <a:ext cx="10698480" cy="822960"/>
          </a:xfrm>
          <a:prstGeom prst="rect">
            <a:avLst/>
          </a:prstGeom>
          <a:noFill/>
          <a:ln/>
        </p:spPr>
        <p:txBody>
          <a:bodyPr wrap="square" lIns="0" tIns="0" rIns="0" bIns="0" rtlCol="0" anchor="t"/>
          <a:lstStyle/>
          <a:p>
            <a:pPr algn="l" indent="0" marL="0">
              <a:buNone/>
            </a:pPr>
            <a:r>
              <a:rPr lang="en-US" sz="3200" b="1" dirty="0">
                <a:solidFill>
                  <a:srgbClr val="121A2B"/>
                </a:solidFill>
              </a:rPr>
              <a:t>Eight agents in one LangGraph, three possible routes</a:t>
            </a:r>
            <a:endParaRPr lang="en-US" sz="3200" dirty="0"/>
          </a:p>
        </p:txBody>
      </p:sp>
      <p:pic>
        <p:nvPicPr>
          <p:cNvPr id="4" name="Image 0" descr="PhishHunter workflow: Intake, then Header Forensics, Threat Intel and Content Analyst in parallel, then Risk Scoring routing to Response (80+), Human Analyst (40-79) or Report (under 40)">    </p:cNvPr>
          <p:cNvPicPr>
            <a:picLocks noChangeAspect="1"/>
          </p:cNvPicPr>
          <p:nvPr/>
        </p:nvPicPr>
        <p:blipFill>
          <a:blip r:embed="rId1"/>
          <a:stretch>
            <a:fillRect/>
          </a:stretch>
        </p:blipFill>
        <p:spPr>
          <a:xfrm>
            <a:off x="731520" y="1600200"/>
            <a:ext cx="6766560" cy="5007462"/>
          </a:xfrm>
          <a:prstGeom prst="rect">
            <a:avLst/>
          </a:prstGeom>
        </p:spPr>
      </p:pic>
      <p:sp>
        <p:nvSpPr>
          <p:cNvPr id="5" name="Text 2"/>
          <p:cNvSpPr txBox="1"/>
          <p:nvPr/>
        </p:nvSpPr>
        <p:spPr>
          <a:xfrm>
            <a:off x="7955280" y="1783080"/>
            <a:ext cx="3566160" cy="365760"/>
          </a:xfrm>
          <a:prstGeom prst="rect">
            <a:avLst/>
          </a:prstGeom>
          <a:noFill/>
          <a:ln/>
        </p:spPr>
        <p:txBody>
          <a:bodyPr wrap="square" lIns="0" tIns="0" rIns="0" bIns="0" rtlCol="0" anchor="ctr"/>
          <a:lstStyle/>
          <a:p>
            <a:pPr indent="0" marL="0">
              <a:buNone/>
            </a:pPr>
            <a:r>
              <a:rPr lang="en-US" sz="1800" b="1" dirty="0">
                <a:solidFill>
                  <a:srgbClr val="121A2B"/>
                </a:solidFill>
              </a:rPr>
              <a:t>1 · Intake</a:t>
            </a:r>
            <a:endParaRPr lang="en-US" sz="1800" dirty="0"/>
          </a:p>
        </p:txBody>
      </p:sp>
      <p:sp>
        <p:nvSpPr>
          <p:cNvPr id="6" name="Text 3"/>
          <p:cNvSpPr txBox="1"/>
          <p:nvPr/>
        </p:nvSpPr>
        <p:spPr>
          <a:xfrm>
            <a:off x="7955280" y="2167128"/>
            <a:ext cx="3566160" cy="640080"/>
          </a:xfrm>
          <a:prstGeom prst="rect">
            <a:avLst/>
          </a:prstGeom>
          <a:noFill/>
          <a:ln/>
        </p:spPr>
        <p:txBody>
          <a:bodyPr wrap="square" lIns="0" tIns="0" rIns="0" bIns="0" rtlCol="0" anchor="t"/>
          <a:lstStyle/>
          <a:p>
            <a:pPr indent="0" marL="0">
              <a:buNone/>
            </a:pPr>
            <a:r>
              <a:rPr lang="en-US" sz="1400" dirty="0">
                <a:solidFill>
                  <a:srgbClr val="4A5263"/>
                </a:solidFill>
              </a:rPr>
              <a:t>Extracts sender, links, short links, attachments and IP.</a:t>
            </a:r>
            <a:endParaRPr lang="en-US" sz="1400" dirty="0"/>
          </a:p>
        </p:txBody>
      </p:sp>
      <p:sp>
        <p:nvSpPr>
          <p:cNvPr id="7" name="Text 4"/>
          <p:cNvSpPr txBox="1"/>
          <p:nvPr/>
        </p:nvSpPr>
        <p:spPr>
          <a:xfrm>
            <a:off x="7955280" y="2926080"/>
            <a:ext cx="3566160" cy="365760"/>
          </a:xfrm>
          <a:prstGeom prst="rect">
            <a:avLst/>
          </a:prstGeom>
          <a:noFill/>
          <a:ln/>
        </p:spPr>
        <p:txBody>
          <a:bodyPr wrap="square" lIns="0" tIns="0" rIns="0" bIns="0" rtlCol="0" anchor="ctr"/>
          <a:lstStyle/>
          <a:p>
            <a:pPr indent="0" marL="0">
              <a:buNone/>
            </a:pPr>
            <a:r>
              <a:rPr lang="en-US" sz="1800" b="1" dirty="0">
                <a:solidFill>
                  <a:srgbClr val="121A2B"/>
                </a:solidFill>
              </a:rPr>
              <a:t>2 · Investigate in parallel</a:t>
            </a:r>
            <a:endParaRPr lang="en-US" sz="1800" dirty="0"/>
          </a:p>
        </p:txBody>
      </p:sp>
      <p:sp>
        <p:nvSpPr>
          <p:cNvPr id="8" name="Text 5"/>
          <p:cNvSpPr txBox="1"/>
          <p:nvPr/>
        </p:nvSpPr>
        <p:spPr>
          <a:xfrm>
            <a:off x="7955280" y="3310128"/>
            <a:ext cx="3566160" cy="640080"/>
          </a:xfrm>
          <a:prstGeom prst="rect">
            <a:avLst/>
          </a:prstGeom>
          <a:noFill/>
          <a:ln/>
        </p:spPr>
        <p:txBody>
          <a:bodyPr wrap="square" lIns="0" tIns="0" rIns="0" bIns="0" rtlCol="0" anchor="t"/>
          <a:lstStyle/>
          <a:p>
            <a:pPr indent="0" marL="0">
              <a:buNone/>
            </a:pPr>
            <a:r>
              <a:rPr lang="en-US" sz="1400" dirty="0">
                <a:solidFill>
                  <a:srgbClr val="4A5263"/>
                </a:solidFill>
              </a:rPr>
              <a:t>Each analyst adds evidence signals worth points.</a:t>
            </a:r>
            <a:endParaRPr lang="en-US" sz="1400" dirty="0"/>
          </a:p>
        </p:txBody>
      </p:sp>
      <p:sp>
        <p:nvSpPr>
          <p:cNvPr id="9" name="Text 6"/>
          <p:cNvSpPr txBox="1"/>
          <p:nvPr/>
        </p:nvSpPr>
        <p:spPr>
          <a:xfrm>
            <a:off x="7955280" y="4069080"/>
            <a:ext cx="3566160" cy="365760"/>
          </a:xfrm>
          <a:prstGeom prst="rect">
            <a:avLst/>
          </a:prstGeom>
          <a:noFill/>
          <a:ln/>
        </p:spPr>
        <p:txBody>
          <a:bodyPr wrap="square" lIns="0" tIns="0" rIns="0" bIns="0" rtlCol="0" anchor="ctr"/>
          <a:lstStyle/>
          <a:p>
            <a:pPr indent="0" marL="0">
              <a:buNone/>
            </a:pPr>
            <a:r>
              <a:rPr lang="en-US" sz="1800" b="1" dirty="0">
                <a:solidFill>
                  <a:srgbClr val="121A2B"/>
                </a:solidFill>
              </a:rPr>
              <a:t>3 · Score and route</a:t>
            </a:r>
            <a:endParaRPr lang="en-US" sz="1800" dirty="0"/>
          </a:p>
        </p:txBody>
      </p:sp>
      <p:sp>
        <p:nvSpPr>
          <p:cNvPr id="10" name="Text 7"/>
          <p:cNvSpPr txBox="1"/>
          <p:nvPr/>
        </p:nvSpPr>
        <p:spPr>
          <a:xfrm>
            <a:off x="7955280" y="4453128"/>
            <a:ext cx="3566160" cy="640080"/>
          </a:xfrm>
          <a:prstGeom prst="rect">
            <a:avLst/>
          </a:prstGeom>
          <a:noFill/>
          <a:ln/>
        </p:spPr>
        <p:txBody>
          <a:bodyPr wrap="square" lIns="0" tIns="0" rIns="0" bIns="0" rtlCol="0" anchor="t"/>
          <a:lstStyle/>
          <a:p>
            <a:pPr indent="0" marL="0">
              <a:buNone/>
            </a:pPr>
            <a:r>
              <a:rPr lang="en-US" sz="1400" dirty="0">
                <a:solidFill>
                  <a:srgbClr val="4A5263"/>
                </a:solidFill>
              </a:rPr>
              <a:t>Points become a 0–100 risk score that picks the route.</a:t>
            </a:r>
            <a:endParaRPr lang="en-US" sz="1400" dirty="0"/>
          </a:p>
        </p:txBody>
      </p:sp>
      <p:sp>
        <p:nvSpPr>
          <p:cNvPr id="11" name="Text 8"/>
          <p:cNvSpPr txBox="1"/>
          <p:nvPr/>
        </p:nvSpPr>
        <p:spPr>
          <a:xfrm>
            <a:off x="7955280" y="5212080"/>
            <a:ext cx="3566160" cy="365760"/>
          </a:xfrm>
          <a:prstGeom prst="rect">
            <a:avLst/>
          </a:prstGeom>
          <a:noFill/>
          <a:ln/>
        </p:spPr>
        <p:txBody>
          <a:bodyPr wrap="square" lIns="0" tIns="0" rIns="0" bIns="0" rtlCol="0" anchor="ctr"/>
          <a:lstStyle/>
          <a:p>
            <a:pPr indent="0" marL="0">
              <a:buNone/>
            </a:pPr>
            <a:r>
              <a:rPr lang="en-US" sz="1800" b="1" dirty="0">
                <a:solidFill>
                  <a:srgbClr val="121A2B"/>
                </a:solidFill>
              </a:rPr>
              <a:t>4 · Respond and report</a:t>
            </a:r>
            <a:endParaRPr lang="en-US" sz="1800" dirty="0"/>
          </a:p>
        </p:txBody>
      </p:sp>
      <p:sp>
        <p:nvSpPr>
          <p:cNvPr id="12" name="Text 9"/>
          <p:cNvSpPr txBox="1"/>
          <p:nvPr/>
        </p:nvSpPr>
        <p:spPr>
          <a:xfrm>
            <a:off x="7955280" y="5596128"/>
            <a:ext cx="3566160" cy="640080"/>
          </a:xfrm>
          <a:prstGeom prst="rect">
            <a:avLst/>
          </a:prstGeom>
          <a:noFill/>
          <a:ln/>
        </p:spPr>
        <p:txBody>
          <a:bodyPr wrap="square" lIns="0" tIns="0" rIns="0" bIns="0" rtlCol="0" anchor="t"/>
          <a:lstStyle/>
          <a:p>
            <a:pPr indent="0" marL="0">
              <a:buNone/>
            </a:pPr>
            <a:r>
              <a:rPr lang="en-US" sz="1400" dirty="0">
                <a:solidFill>
                  <a:srgbClr val="4A5263"/>
                </a:solidFill>
              </a:rPr>
              <a:t>Contain the blast radius, open a ticket, thank the reporter.</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urier New" pitchFamily="34" charset="0"/>
                <a:ea typeface="Courier New" pitchFamily="34" charset="-122"/>
                <a:cs typeface="Courier New" pitchFamily="34" charset="-120"/>
              </a:rPr>
              <a:t>RISK SCORE + HUMAN IN THE LOOP</a:t>
            </a:r>
            <a:endParaRPr lang="en-US" sz="1300" dirty="0"/>
          </a:p>
        </p:txBody>
      </p:sp>
      <p:sp>
        <p:nvSpPr>
          <p:cNvPr id="3" name="Text 0"/>
          <p:cNvSpPr/>
          <p:nvPr>
            <p:ph idx="100" type="title" hasCustomPrompt="1"/>
          </p:nvPr>
        </p:nvSpPr>
        <p:spPr>
          <a:xfrm>
            <a:off x="731520" y="777240"/>
            <a:ext cx="10698480" cy="822960"/>
          </a:xfrm>
          <a:prstGeom prst="rect">
            <a:avLst/>
          </a:prstGeom>
          <a:noFill/>
          <a:ln/>
        </p:spPr>
        <p:txBody>
          <a:bodyPr wrap="square" lIns="0" tIns="0" rIns="0" bIns="0" rtlCol="0" anchor="t"/>
          <a:lstStyle/>
          <a:p>
            <a:pPr algn="l" indent="0" marL="0">
              <a:buNone/>
            </a:pPr>
            <a:r>
              <a:rPr lang="en-US" sz="3200" b="1" dirty="0">
                <a:solidFill>
                  <a:srgbClr val="121A2B"/>
                </a:solidFill>
              </a:rPr>
              <a:t>The agent acts alone only when it is sure</a:t>
            </a:r>
            <a:endParaRPr lang="en-US" sz="3200" dirty="0"/>
          </a:p>
        </p:txBody>
      </p:sp>
      <p:sp>
        <p:nvSpPr>
          <p:cNvPr id="4" name="Shape 2"/>
          <p:cNvSpPr/>
          <p:nvPr/>
        </p:nvSpPr>
        <p:spPr>
          <a:xfrm>
            <a:off x="731520" y="1920240"/>
            <a:ext cx="4206240" cy="1097280"/>
          </a:xfrm>
          <a:prstGeom prst="rect">
            <a:avLst/>
          </a:prstGeom>
          <a:solidFill>
            <a:srgbClr val="DCE6F7"/>
          </a:solidFill>
          <a:ln w="12700">
            <a:solidFill>
              <a:srgbClr val="DCE6F7"/>
            </a:solidFill>
            <a:prstDash val="solid"/>
          </a:ln>
        </p:spPr>
      </p:sp>
      <p:sp>
        <p:nvSpPr>
          <p:cNvPr id="5" name="Text 3"/>
          <p:cNvSpPr txBox="1"/>
          <p:nvPr/>
        </p:nvSpPr>
        <p:spPr>
          <a:xfrm>
            <a:off x="960120" y="1920240"/>
            <a:ext cx="3840480" cy="1097280"/>
          </a:xfrm>
          <a:prstGeom prst="rect">
            <a:avLst/>
          </a:prstGeom>
          <a:noFill/>
          <a:ln/>
        </p:spPr>
        <p:txBody>
          <a:bodyPr wrap="square" lIns="0" tIns="0" rIns="0" bIns="0" rtlCol="0" anchor="ctr"/>
          <a:lstStyle/>
          <a:p>
            <a:pPr indent="0" marL="0">
              <a:buNone/>
            </a:pPr>
            <a:r>
              <a:rPr lang="en-US" sz="2000" b="1" dirty="0">
                <a:solidFill>
                  <a:srgbClr val="123A7A"/>
                </a:solidFill>
              </a:rPr>
              <a:t>0–39 · Safe</a:t>
            </a:r>
            <a:endParaRPr lang="en-US" sz="2000" dirty="0"/>
          </a:p>
          <a:p>
            <a:pPr indent="0" marL="0">
              <a:buNone/>
            </a:pPr>
            <a:r>
              <a:rPr lang="en-US" sz="1400" dirty="0">
                <a:solidFill>
                  <a:srgbClr val="123A7A"/>
                </a:solidFill>
              </a:rPr>
              <a:t>Close and thank the reporter</a:t>
            </a:r>
            <a:endParaRPr lang="en-US" sz="2000" dirty="0"/>
          </a:p>
        </p:txBody>
      </p:sp>
      <p:sp>
        <p:nvSpPr>
          <p:cNvPr id="6" name="Shape 4"/>
          <p:cNvSpPr/>
          <p:nvPr/>
        </p:nvSpPr>
        <p:spPr>
          <a:xfrm>
            <a:off x="4937760" y="1920240"/>
            <a:ext cx="4206240" cy="1097280"/>
          </a:xfrm>
          <a:prstGeom prst="rect">
            <a:avLst/>
          </a:prstGeom>
          <a:solidFill>
            <a:srgbClr val="F7E3CF"/>
          </a:solidFill>
          <a:ln w="12700">
            <a:solidFill>
              <a:srgbClr val="F7E3CF"/>
            </a:solidFill>
            <a:prstDash val="solid"/>
          </a:ln>
        </p:spPr>
      </p:sp>
      <p:sp>
        <p:nvSpPr>
          <p:cNvPr id="7" name="Text 5"/>
          <p:cNvSpPr txBox="1"/>
          <p:nvPr/>
        </p:nvSpPr>
        <p:spPr>
          <a:xfrm>
            <a:off x="5166360" y="1920240"/>
            <a:ext cx="3840480" cy="1097280"/>
          </a:xfrm>
          <a:prstGeom prst="rect">
            <a:avLst/>
          </a:prstGeom>
          <a:noFill/>
          <a:ln/>
        </p:spPr>
        <p:txBody>
          <a:bodyPr wrap="square" lIns="0" tIns="0" rIns="0" bIns="0" rtlCol="0" anchor="ctr"/>
          <a:lstStyle/>
          <a:p>
            <a:pPr indent="0" marL="0">
              <a:buNone/>
            </a:pPr>
            <a:r>
              <a:rPr lang="en-US" sz="2000" b="1" dirty="0">
                <a:solidFill>
                  <a:srgbClr val="7A3410"/>
                </a:solidFill>
              </a:rPr>
              <a:t>40–79 · Grey zone</a:t>
            </a:r>
            <a:endParaRPr lang="en-US" sz="2000" dirty="0"/>
          </a:p>
          <a:p>
            <a:pPr indent="0" marL="0">
              <a:buNone/>
            </a:pPr>
            <a:r>
              <a:rPr lang="en-US" sz="1400" dirty="0">
                <a:solidFill>
                  <a:srgbClr val="7A3410"/>
                </a:solidFill>
              </a:rPr>
              <a:t>Graph pauses for a human analyst</a:t>
            </a:r>
            <a:endParaRPr lang="en-US" sz="2000" dirty="0"/>
          </a:p>
        </p:txBody>
      </p:sp>
      <p:sp>
        <p:nvSpPr>
          <p:cNvPr id="8" name="Shape 6"/>
          <p:cNvSpPr/>
          <p:nvPr/>
        </p:nvSpPr>
        <p:spPr>
          <a:xfrm>
            <a:off x="9144000" y="1920240"/>
            <a:ext cx="2313432" cy="1097280"/>
          </a:xfrm>
          <a:prstGeom prst="rect">
            <a:avLst/>
          </a:prstGeom>
          <a:solidFill>
            <a:srgbClr val="E8833A"/>
          </a:solidFill>
          <a:ln w="12700">
            <a:solidFill>
              <a:srgbClr val="E8833A"/>
            </a:solidFill>
            <a:prstDash val="solid"/>
          </a:ln>
        </p:spPr>
      </p:sp>
      <p:sp>
        <p:nvSpPr>
          <p:cNvPr id="9" name="Text 7"/>
          <p:cNvSpPr txBox="1"/>
          <p:nvPr/>
        </p:nvSpPr>
        <p:spPr>
          <a:xfrm>
            <a:off x="9372600" y="1920240"/>
            <a:ext cx="1947672" cy="1097280"/>
          </a:xfrm>
          <a:prstGeom prst="rect">
            <a:avLst/>
          </a:prstGeom>
          <a:noFill/>
          <a:ln/>
        </p:spPr>
        <p:txBody>
          <a:bodyPr wrap="square" lIns="0" tIns="0" rIns="0" bIns="0" rtlCol="0" anchor="ctr"/>
          <a:lstStyle/>
          <a:p>
            <a:pPr indent="0" marL="0">
              <a:buNone/>
            </a:pPr>
            <a:r>
              <a:rPr lang="en-US" sz="2000" b="1" dirty="0">
                <a:solidFill>
                  <a:srgbClr val="121A2B"/>
                </a:solidFill>
              </a:rPr>
              <a:t>80+ · Malicious</a:t>
            </a:r>
            <a:endParaRPr lang="en-US" sz="2000" dirty="0"/>
          </a:p>
          <a:p>
            <a:pPr indent="0" marL="0">
              <a:buNone/>
            </a:pPr>
            <a:r>
              <a:rPr lang="en-US" sz="1400" dirty="0">
                <a:solidFill>
                  <a:srgbClr val="121A2B"/>
                </a:solidFill>
              </a:rPr>
              <a:t>Auto-contain</a:t>
            </a:r>
            <a:endParaRPr lang="en-US" sz="2000" dirty="0"/>
          </a:p>
        </p:txBody>
      </p:sp>
      <p:sp>
        <p:nvSpPr>
          <p:cNvPr id="10" name="Text 8"/>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dirty="0">
                <a:solidFill>
                  <a:srgbClr val="4A5263"/>
                </a:solidFill>
              </a:rPr>
              <a:t>Every red flag is a signal worth fixed points, so every verdict is explainable:</a:t>
            </a:r>
            <a:endParaRPr lang="en-US" sz="1600" dirty="0"/>
          </a:p>
        </p:txBody>
      </p:sp>
      <p:sp>
        <p:nvSpPr>
          <p:cNvPr id="11" name="Shape 9"/>
          <p:cNvSpPr/>
          <p:nvPr/>
        </p:nvSpPr>
        <p:spPr>
          <a:xfrm>
            <a:off x="731520" y="3977640"/>
            <a:ext cx="3072384" cy="502920"/>
          </a:xfrm>
          <a:prstGeom prst="roundRect">
            <a:avLst>
              <a:gd name="adj" fmla="val 49091"/>
            </a:avLst>
          </a:prstGeom>
          <a:solidFill>
            <a:srgbClr val="F3F5F8"/>
          </a:solidFill>
          <a:ln w="12700">
            <a:solidFill>
              <a:srgbClr val="DDE1E8"/>
            </a:solidFill>
            <a:prstDash val="solid"/>
          </a:ln>
        </p:spPr>
      </p:sp>
      <p:sp>
        <p:nvSpPr>
          <p:cNvPr id="12" name="Text 10"/>
          <p:cNvSpPr txBox="1"/>
          <p:nvPr/>
        </p:nvSpPr>
        <p:spPr>
          <a:xfrm>
            <a:off x="731520" y="3977640"/>
            <a:ext cx="3072384" cy="502920"/>
          </a:xfrm>
          <a:prstGeom prst="rect">
            <a:avLst/>
          </a:prstGeom>
          <a:noFill/>
          <a:ln/>
        </p:spPr>
        <p:txBody>
          <a:bodyPr wrap="square" lIns="0" tIns="0" rIns="0" bIns="0" rtlCol="0" anchor="ctr"/>
          <a:lstStyle/>
          <a:p>
            <a:pPr algn="ctr" indent="0" marL="0">
              <a:buNone/>
            </a:pPr>
            <a:r>
              <a:rPr lang="en-US" sz="1400" dirty="0">
                <a:solidFill>
                  <a:srgbClr val="121A2B"/>
                </a:solidFill>
                <a:latin typeface="Courier New" pitchFamily="34" charset="0"/>
                <a:ea typeface="Courier New" pitchFamily="34" charset="-122"/>
                <a:cs typeface="Courier New" pitchFamily="34" charset="-120"/>
              </a:rPr>
              <a:t>Malware attachment +50</a:t>
            </a:r>
            <a:endParaRPr lang="en-US" sz="1400" dirty="0"/>
          </a:p>
        </p:txBody>
      </p:sp>
      <p:sp>
        <p:nvSpPr>
          <p:cNvPr id="13" name="Shape 11"/>
          <p:cNvSpPr/>
          <p:nvPr/>
        </p:nvSpPr>
        <p:spPr>
          <a:xfrm>
            <a:off x="4032504" y="3977640"/>
            <a:ext cx="2834640" cy="502920"/>
          </a:xfrm>
          <a:prstGeom prst="roundRect">
            <a:avLst>
              <a:gd name="adj" fmla="val 49091"/>
            </a:avLst>
          </a:prstGeom>
          <a:solidFill>
            <a:srgbClr val="F3F5F8"/>
          </a:solidFill>
          <a:ln w="12700">
            <a:solidFill>
              <a:srgbClr val="DDE1E8"/>
            </a:solidFill>
            <a:prstDash val="solid"/>
          </a:ln>
        </p:spPr>
      </p:sp>
      <p:sp>
        <p:nvSpPr>
          <p:cNvPr id="14" name="Text 12"/>
          <p:cNvSpPr txBox="1"/>
          <p:nvPr/>
        </p:nvSpPr>
        <p:spPr>
          <a:xfrm>
            <a:off x="4032504" y="3977640"/>
            <a:ext cx="2834640" cy="502920"/>
          </a:xfrm>
          <a:prstGeom prst="rect">
            <a:avLst/>
          </a:prstGeom>
          <a:noFill/>
          <a:ln/>
        </p:spPr>
        <p:txBody>
          <a:bodyPr wrap="square" lIns="0" tIns="0" rIns="0" bIns="0" rtlCol="0" anchor="ctr"/>
          <a:lstStyle/>
          <a:p>
            <a:pPr algn="ctr" indent="0" marL="0">
              <a:buNone/>
            </a:pPr>
            <a:r>
              <a:rPr lang="en-US" sz="1400" dirty="0">
                <a:solidFill>
                  <a:srgbClr val="121A2B"/>
                </a:solidFill>
                <a:latin typeface="Courier New" pitchFamily="34" charset="0"/>
                <a:ea typeface="Courier New" pitchFamily="34" charset="-122"/>
                <a:cs typeface="Courier New" pitchFamily="34" charset="-120"/>
              </a:rPr>
              <a:t>Malicious domain +35</a:t>
            </a:r>
            <a:endParaRPr lang="en-US" sz="1400" dirty="0"/>
          </a:p>
        </p:txBody>
      </p:sp>
      <p:sp>
        <p:nvSpPr>
          <p:cNvPr id="15" name="Shape 13"/>
          <p:cNvSpPr/>
          <p:nvPr/>
        </p:nvSpPr>
        <p:spPr>
          <a:xfrm>
            <a:off x="7095744" y="3977640"/>
            <a:ext cx="2596896" cy="502920"/>
          </a:xfrm>
          <a:prstGeom prst="roundRect">
            <a:avLst>
              <a:gd name="adj" fmla="val 49091"/>
            </a:avLst>
          </a:prstGeom>
          <a:solidFill>
            <a:srgbClr val="F3F5F8"/>
          </a:solidFill>
          <a:ln w="12700">
            <a:solidFill>
              <a:srgbClr val="DDE1E8"/>
            </a:solidFill>
            <a:prstDash val="solid"/>
          </a:ln>
        </p:spPr>
      </p:sp>
      <p:sp>
        <p:nvSpPr>
          <p:cNvPr id="16" name="Text 14"/>
          <p:cNvSpPr txBox="1"/>
          <p:nvPr/>
        </p:nvSpPr>
        <p:spPr>
          <a:xfrm>
            <a:off x="7095744" y="3977640"/>
            <a:ext cx="2596896" cy="502920"/>
          </a:xfrm>
          <a:prstGeom prst="rect">
            <a:avLst/>
          </a:prstGeom>
          <a:noFill/>
          <a:ln/>
        </p:spPr>
        <p:txBody>
          <a:bodyPr wrap="square" lIns="0" tIns="0" rIns="0" bIns="0" rtlCol="0" anchor="ctr"/>
          <a:lstStyle/>
          <a:p>
            <a:pPr algn="ctr" indent="0" marL="0">
              <a:buNone/>
            </a:pPr>
            <a:r>
              <a:rPr lang="en-US" sz="1400" dirty="0">
                <a:solidFill>
                  <a:srgbClr val="121A2B"/>
                </a:solidFill>
                <a:latin typeface="Courier New" pitchFamily="34" charset="0"/>
                <a:ea typeface="Courier New" pitchFamily="34" charset="-122"/>
                <a:cs typeface="Courier New" pitchFamily="34" charset="-120"/>
              </a:rPr>
              <a:t>Fake executive +30</a:t>
            </a:r>
            <a:endParaRPr lang="en-US" sz="1400" dirty="0"/>
          </a:p>
        </p:txBody>
      </p:sp>
      <p:sp>
        <p:nvSpPr>
          <p:cNvPr id="17" name="Shape 15"/>
          <p:cNvSpPr/>
          <p:nvPr/>
        </p:nvSpPr>
        <p:spPr>
          <a:xfrm>
            <a:off x="731520" y="4663440"/>
            <a:ext cx="2953512" cy="502920"/>
          </a:xfrm>
          <a:prstGeom prst="roundRect">
            <a:avLst>
              <a:gd name="adj" fmla="val 49091"/>
            </a:avLst>
          </a:prstGeom>
          <a:solidFill>
            <a:srgbClr val="F3F5F8"/>
          </a:solidFill>
          <a:ln w="12700">
            <a:solidFill>
              <a:srgbClr val="DDE1E8"/>
            </a:solidFill>
            <a:prstDash val="solid"/>
          </a:ln>
        </p:spPr>
      </p:sp>
      <p:sp>
        <p:nvSpPr>
          <p:cNvPr id="18" name="Text 16"/>
          <p:cNvSpPr txBox="1"/>
          <p:nvPr/>
        </p:nvSpPr>
        <p:spPr>
          <a:xfrm>
            <a:off x="731520" y="4663440"/>
            <a:ext cx="2953512" cy="502920"/>
          </a:xfrm>
          <a:prstGeom prst="rect">
            <a:avLst/>
          </a:prstGeom>
          <a:noFill/>
          <a:ln/>
        </p:spPr>
        <p:txBody>
          <a:bodyPr wrap="square" lIns="0" tIns="0" rIns="0" bIns="0" rtlCol="0" anchor="ctr"/>
          <a:lstStyle/>
          <a:p>
            <a:pPr algn="ctr" indent="0" marL="0">
              <a:buNone/>
            </a:pPr>
            <a:r>
              <a:rPr lang="en-US" sz="1400" dirty="0">
                <a:solidFill>
                  <a:srgbClr val="121A2B"/>
                </a:solidFill>
                <a:latin typeface="Courier New" pitchFamily="34" charset="0"/>
                <a:ea typeface="Courier New" pitchFamily="34" charset="-122"/>
                <a:cs typeface="Courier New" pitchFamily="34" charset="-120"/>
              </a:rPr>
              <a:t>Look-alike domain +25</a:t>
            </a:r>
            <a:endParaRPr lang="en-US" sz="1400" dirty="0"/>
          </a:p>
        </p:txBody>
      </p:sp>
      <p:sp>
        <p:nvSpPr>
          <p:cNvPr id="19" name="Shape 17"/>
          <p:cNvSpPr/>
          <p:nvPr/>
        </p:nvSpPr>
        <p:spPr>
          <a:xfrm>
            <a:off x="3913632" y="4663440"/>
            <a:ext cx="2953512" cy="502920"/>
          </a:xfrm>
          <a:prstGeom prst="roundRect">
            <a:avLst>
              <a:gd name="adj" fmla="val 49091"/>
            </a:avLst>
          </a:prstGeom>
          <a:solidFill>
            <a:srgbClr val="F3F5F8"/>
          </a:solidFill>
          <a:ln w="12700">
            <a:solidFill>
              <a:srgbClr val="DDE1E8"/>
            </a:solidFill>
            <a:prstDash val="solid"/>
          </a:ln>
        </p:spPr>
      </p:sp>
      <p:sp>
        <p:nvSpPr>
          <p:cNvPr id="20" name="Text 18"/>
          <p:cNvSpPr txBox="1"/>
          <p:nvPr/>
        </p:nvSpPr>
        <p:spPr>
          <a:xfrm>
            <a:off x="3913632" y="4663440"/>
            <a:ext cx="2953512" cy="502920"/>
          </a:xfrm>
          <a:prstGeom prst="rect">
            <a:avLst/>
          </a:prstGeom>
          <a:noFill/>
          <a:ln/>
        </p:spPr>
        <p:txBody>
          <a:bodyPr wrap="square" lIns="0" tIns="0" rIns="0" bIns="0" rtlCol="0" anchor="ctr"/>
          <a:lstStyle/>
          <a:p>
            <a:pPr algn="ctr" indent="0" marL="0">
              <a:buNone/>
            </a:pPr>
            <a:r>
              <a:rPr lang="en-US" sz="1400" dirty="0">
                <a:solidFill>
                  <a:srgbClr val="121A2B"/>
                </a:solidFill>
                <a:latin typeface="Courier New" pitchFamily="34" charset="0"/>
                <a:ea typeface="Courier New" pitchFamily="34" charset="-122"/>
                <a:cs typeface="Courier New" pitchFamily="34" charset="-120"/>
              </a:rPr>
              <a:t>Gift-card request +25</a:t>
            </a:r>
            <a:endParaRPr lang="en-US" sz="1400" dirty="0"/>
          </a:p>
        </p:txBody>
      </p:sp>
      <p:sp>
        <p:nvSpPr>
          <p:cNvPr id="21" name="Shape 19"/>
          <p:cNvSpPr/>
          <p:nvPr/>
        </p:nvSpPr>
        <p:spPr>
          <a:xfrm>
            <a:off x="7095744" y="4663440"/>
            <a:ext cx="1883664" cy="502920"/>
          </a:xfrm>
          <a:prstGeom prst="roundRect">
            <a:avLst>
              <a:gd name="adj" fmla="val 49091"/>
            </a:avLst>
          </a:prstGeom>
          <a:solidFill>
            <a:srgbClr val="F3F5F8"/>
          </a:solidFill>
          <a:ln w="12700">
            <a:solidFill>
              <a:srgbClr val="DDE1E8"/>
            </a:solidFill>
            <a:prstDash val="solid"/>
          </a:ln>
        </p:spPr>
      </p:sp>
      <p:sp>
        <p:nvSpPr>
          <p:cNvPr id="22" name="Text 20"/>
          <p:cNvSpPr txBox="1"/>
          <p:nvPr/>
        </p:nvSpPr>
        <p:spPr>
          <a:xfrm>
            <a:off x="7095744" y="4663440"/>
            <a:ext cx="1883664" cy="502920"/>
          </a:xfrm>
          <a:prstGeom prst="rect">
            <a:avLst/>
          </a:prstGeom>
          <a:noFill/>
          <a:ln/>
        </p:spPr>
        <p:txBody>
          <a:bodyPr wrap="square" lIns="0" tIns="0" rIns="0" bIns="0" rtlCol="0" anchor="ctr"/>
          <a:lstStyle/>
          <a:p>
            <a:pPr algn="ctr" indent="0" marL="0">
              <a:buNone/>
            </a:pPr>
            <a:r>
              <a:rPr lang="en-US" sz="1400" dirty="0">
                <a:solidFill>
                  <a:srgbClr val="121A2B"/>
                </a:solidFill>
                <a:latin typeface="Courier New" pitchFamily="34" charset="0"/>
                <a:ea typeface="Courier New" pitchFamily="34" charset="-122"/>
                <a:cs typeface="Courier New" pitchFamily="34" charset="-120"/>
              </a:rPr>
              <a:t>SPF fail +15</a:t>
            </a:r>
            <a:endParaRPr lang="en-US" sz="1400" dirty="0"/>
          </a:p>
        </p:txBody>
      </p:sp>
      <p:sp>
        <p:nvSpPr>
          <p:cNvPr id="23" name="Shape 21"/>
          <p:cNvSpPr/>
          <p:nvPr/>
        </p:nvSpPr>
        <p:spPr>
          <a:xfrm>
            <a:off x="9208008" y="4663440"/>
            <a:ext cx="1764792" cy="502920"/>
          </a:xfrm>
          <a:prstGeom prst="roundRect">
            <a:avLst>
              <a:gd name="adj" fmla="val 49091"/>
            </a:avLst>
          </a:prstGeom>
          <a:solidFill>
            <a:srgbClr val="F3F5F8"/>
          </a:solidFill>
          <a:ln w="12700">
            <a:solidFill>
              <a:srgbClr val="DDE1E8"/>
            </a:solidFill>
            <a:prstDash val="solid"/>
          </a:ln>
        </p:spPr>
      </p:sp>
      <p:sp>
        <p:nvSpPr>
          <p:cNvPr id="24" name="Text 22"/>
          <p:cNvSpPr txBox="1"/>
          <p:nvPr/>
        </p:nvSpPr>
        <p:spPr>
          <a:xfrm>
            <a:off x="9208008" y="4663440"/>
            <a:ext cx="1764792" cy="502920"/>
          </a:xfrm>
          <a:prstGeom prst="rect">
            <a:avLst/>
          </a:prstGeom>
          <a:noFill/>
          <a:ln/>
        </p:spPr>
        <p:txBody>
          <a:bodyPr wrap="square" lIns="0" tIns="0" rIns="0" bIns="0" rtlCol="0" anchor="ctr"/>
          <a:lstStyle/>
          <a:p>
            <a:pPr algn="ctr" indent="0" marL="0">
              <a:buNone/>
            </a:pPr>
            <a:r>
              <a:rPr lang="en-US" sz="1400" dirty="0">
                <a:solidFill>
                  <a:srgbClr val="121A2B"/>
                </a:solidFill>
                <a:latin typeface="Courier New" pitchFamily="34" charset="0"/>
                <a:ea typeface="Courier New" pitchFamily="34" charset="-122"/>
                <a:cs typeface="Courier New" pitchFamily="34" charset="-120"/>
              </a:rPr>
              <a:t>Urgency +10</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E8833A"/>
                </a:solidFill>
                <a:latin typeface="Courier New" pitchFamily="34" charset="0"/>
                <a:ea typeface="Courier New" pitchFamily="34" charset="-122"/>
                <a:cs typeface="Courier New" pitchFamily="34" charset="-120"/>
              </a:rPr>
              <a:t>LIVE DEMO</a:t>
            </a:r>
            <a:endParaRPr lang="en-US" sz="1300" dirty="0"/>
          </a:p>
        </p:txBody>
      </p:sp>
      <p:sp>
        <p:nvSpPr>
          <p:cNvPr id="3" name="Text 1"/>
          <p:cNvSpPr txBox="1"/>
          <p:nvPr/>
        </p:nvSpPr>
        <p:spPr>
          <a:xfrm>
            <a:off x="731520" y="777240"/>
            <a:ext cx="10698480" cy="822960"/>
          </a:xfrm>
          <a:prstGeom prst="rect">
            <a:avLst/>
          </a:prstGeom>
          <a:noFill/>
          <a:ln/>
        </p:spPr>
        <p:txBody>
          <a:bodyPr wrap="square" lIns="0" tIns="0" rIns="0" bIns="0" rtlCol="0" anchor="ctr"/>
          <a:lstStyle/>
          <a:p>
            <a:pPr indent="0" marL="0">
              <a:buNone/>
            </a:pPr>
            <a:r>
              <a:rPr lang="en-US" sz="3200" b="1" dirty="0">
                <a:solidFill>
                  <a:srgbClr val="F4F2EC"/>
                </a:solidFill>
              </a:rPr>
              <a:t>Three reported emails, three different routes</a:t>
            </a:r>
            <a:endParaRPr lang="en-US" sz="3200" dirty="0"/>
          </a:p>
        </p:txBody>
      </p:sp>
      <p:sp>
        <p:nvSpPr>
          <p:cNvPr id="4" name="Shape 2"/>
          <p:cNvSpPr/>
          <p:nvPr/>
        </p:nvSpPr>
        <p:spPr>
          <a:xfrm>
            <a:off x="731520" y="2011680"/>
            <a:ext cx="3383280" cy="3840480"/>
          </a:xfrm>
          <a:prstGeom prst="roundRect">
            <a:avLst>
              <a:gd name="adj" fmla="val 3243"/>
            </a:avLst>
          </a:prstGeom>
          <a:solidFill>
            <a:srgbClr val="1C2740"/>
          </a:solidFill>
          <a:ln w="12700">
            <a:solidFill>
              <a:srgbClr val="2A3756"/>
            </a:solidFill>
            <a:prstDash val="solid"/>
          </a:ln>
        </p:spPr>
      </p:sp>
      <p:sp>
        <p:nvSpPr>
          <p:cNvPr id="5" name="Text 3"/>
          <p:cNvSpPr txBox="1"/>
          <p:nvPr/>
        </p:nvSpPr>
        <p:spPr>
          <a:xfrm>
            <a:off x="1005840" y="2240280"/>
            <a:ext cx="2834640" cy="320040"/>
          </a:xfrm>
          <a:prstGeom prst="rect">
            <a:avLst/>
          </a:prstGeom>
          <a:noFill/>
          <a:ln/>
        </p:spPr>
        <p:txBody>
          <a:bodyPr wrap="square" lIns="0" tIns="0" rIns="0" bIns="0" rtlCol="0" anchor="ctr"/>
          <a:lstStyle/>
          <a:p>
            <a:pPr indent="0" marL="0">
              <a:buNone/>
            </a:pPr>
            <a:r>
              <a:rPr lang="en-US" sz="1300" b="1" dirty="0">
                <a:solidFill>
                  <a:srgbClr val="E8833A"/>
                </a:solidFill>
                <a:latin typeface="Courier New" pitchFamily="34" charset="0"/>
                <a:ea typeface="Courier New" pitchFamily="34" charset="-122"/>
                <a:cs typeface="Courier New" pitchFamily="34" charset="-120"/>
              </a:rPr>
              <a:t>E1 · SCORE 100</a:t>
            </a:r>
            <a:endParaRPr lang="en-US" sz="1300" dirty="0"/>
          </a:p>
        </p:txBody>
      </p:sp>
      <p:sp>
        <p:nvSpPr>
          <p:cNvPr id="6" name="Text 4"/>
          <p:cNvSpPr txBox="1"/>
          <p:nvPr/>
        </p:nvSpPr>
        <p:spPr>
          <a:xfrm>
            <a:off x="1005840" y="2651760"/>
            <a:ext cx="2834640" cy="1097280"/>
          </a:xfrm>
          <a:prstGeom prst="rect">
            <a:avLst/>
          </a:prstGeom>
          <a:noFill/>
          <a:ln/>
        </p:spPr>
        <p:txBody>
          <a:bodyPr wrap="square" lIns="0" tIns="0" rIns="0" bIns="0" rtlCol="0" anchor="t"/>
          <a:lstStyle/>
          <a:p>
            <a:pPr indent="0" marL="0">
              <a:buNone/>
            </a:pPr>
            <a:r>
              <a:rPr lang="en-US" sz="2000" b="1" dirty="0">
                <a:solidFill>
                  <a:srgbClr val="F4F2EC"/>
                </a:solidFill>
              </a:rPr>
              <a:t>“Your Microsoft 365 password expires in 2 hours”</a:t>
            </a:r>
            <a:endParaRPr lang="en-US" sz="2000" dirty="0"/>
          </a:p>
        </p:txBody>
      </p:sp>
      <p:sp>
        <p:nvSpPr>
          <p:cNvPr id="7" name="Text 5"/>
          <p:cNvSpPr txBox="1"/>
          <p:nvPr/>
        </p:nvSpPr>
        <p:spPr>
          <a:xfrm>
            <a:off x="1005840" y="3840480"/>
            <a:ext cx="2834640" cy="1828800"/>
          </a:xfrm>
          <a:prstGeom prst="rect">
            <a:avLst/>
          </a:prstGeom>
          <a:noFill/>
          <a:ln/>
        </p:spPr>
        <p:txBody>
          <a:bodyPr wrap="square" lIns="0" tIns="0" rIns="0" bIns="0" rtlCol="0" anchor="t"/>
          <a:lstStyle/>
          <a:p>
            <a:pPr indent="0" marL="0">
              <a:lnSpc>
                <a:spcPct val="110000"/>
              </a:lnSpc>
              <a:buNone/>
            </a:pPr>
            <a:r>
              <a:rPr lang="en-US" sz="1500" dirty="0">
                <a:solidFill>
                  <a:srgbClr val="B9C2D3"/>
                </a:solidFill>
              </a:rPr>
              <a:t>Auto-contained: quarantined in 14 mailboxes, password reset for the 1 user who entered it.</a:t>
            </a:r>
            <a:endParaRPr lang="en-US" sz="1500" dirty="0"/>
          </a:p>
        </p:txBody>
      </p:sp>
      <p:sp>
        <p:nvSpPr>
          <p:cNvPr id="8" name="Shape 6"/>
          <p:cNvSpPr/>
          <p:nvPr/>
        </p:nvSpPr>
        <p:spPr>
          <a:xfrm>
            <a:off x="4361688" y="2011680"/>
            <a:ext cx="3383280" cy="3840480"/>
          </a:xfrm>
          <a:prstGeom prst="roundRect">
            <a:avLst>
              <a:gd name="adj" fmla="val 3243"/>
            </a:avLst>
          </a:prstGeom>
          <a:solidFill>
            <a:srgbClr val="1C2740"/>
          </a:solidFill>
          <a:ln w="12700">
            <a:solidFill>
              <a:srgbClr val="2A3756"/>
            </a:solidFill>
            <a:prstDash val="solid"/>
          </a:ln>
        </p:spPr>
      </p:sp>
      <p:sp>
        <p:nvSpPr>
          <p:cNvPr id="9" name="Text 7"/>
          <p:cNvSpPr txBox="1"/>
          <p:nvPr/>
        </p:nvSpPr>
        <p:spPr>
          <a:xfrm>
            <a:off x="4636008" y="2240280"/>
            <a:ext cx="2834640" cy="320040"/>
          </a:xfrm>
          <a:prstGeom prst="rect">
            <a:avLst/>
          </a:prstGeom>
          <a:noFill/>
          <a:ln/>
        </p:spPr>
        <p:txBody>
          <a:bodyPr wrap="square" lIns="0" tIns="0" rIns="0" bIns="0" rtlCol="0" anchor="ctr"/>
          <a:lstStyle/>
          <a:p>
            <a:pPr indent="0" marL="0">
              <a:buNone/>
            </a:pPr>
            <a:r>
              <a:rPr lang="en-US" sz="1300" b="1" dirty="0">
                <a:solidFill>
                  <a:srgbClr val="F2C07A"/>
                </a:solidFill>
                <a:latin typeface="Courier New" pitchFamily="34" charset="0"/>
                <a:ea typeface="Courier New" pitchFamily="34" charset="-122"/>
                <a:cs typeface="Courier New" pitchFamily="34" charset="-120"/>
              </a:rPr>
              <a:t>E5 · SCORE 65</a:t>
            </a:r>
            <a:endParaRPr lang="en-US" sz="1300" dirty="0"/>
          </a:p>
        </p:txBody>
      </p:sp>
      <p:sp>
        <p:nvSpPr>
          <p:cNvPr id="10" name="Text 8"/>
          <p:cNvSpPr txBox="1"/>
          <p:nvPr/>
        </p:nvSpPr>
        <p:spPr>
          <a:xfrm>
            <a:off x="4636008" y="2651760"/>
            <a:ext cx="2834640" cy="1097280"/>
          </a:xfrm>
          <a:prstGeom prst="rect">
            <a:avLst/>
          </a:prstGeom>
          <a:noFill/>
          <a:ln/>
        </p:spPr>
        <p:txBody>
          <a:bodyPr wrap="square" lIns="0" tIns="0" rIns="0" bIns="0" rtlCol="0" anchor="t"/>
          <a:lstStyle/>
          <a:p>
            <a:pPr indent="0" marL="0">
              <a:buNone/>
            </a:pPr>
            <a:r>
              <a:rPr lang="en-US" sz="2000" b="1" dirty="0">
                <a:solidFill>
                  <a:srgbClr val="F4F2EC"/>
                </a:solidFill>
              </a:rPr>
              <a:t>“Updated bank details for future payments”</a:t>
            </a:r>
            <a:endParaRPr lang="en-US" sz="2000" dirty="0"/>
          </a:p>
        </p:txBody>
      </p:sp>
      <p:sp>
        <p:nvSpPr>
          <p:cNvPr id="11" name="Text 9"/>
          <p:cNvSpPr txBox="1"/>
          <p:nvPr/>
        </p:nvSpPr>
        <p:spPr>
          <a:xfrm>
            <a:off x="4636008" y="3840480"/>
            <a:ext cx="2834640" cy="1828800"/>
          </a:xfrm>
          <a:prstGeom prst="rect">
            <a:avLst/>
          </a:prstGeom>
          <a:noFill/>
          <a:ln/>
        </p:spPr>
        <p:txBody>
          <a:bodyPr wrap="square" lIns="0" tIns="0" rIns="0" bIns="0" rtlCol="0" anchor="t"/>
          <a:lstStyle/>
          <a:p>
            <a:pPr indent="0" marL="0">
              <a:lnSpc>
                <a:spcPct val="110000"/>
              </a:lnSpc>
              <a:buNone/>
            </a:pPr>
            <a:r>
              <a:rPr lang="en-US" sz="1500" dirty="0">
                <a:solidFill>
                  <a:srgbClr val="B9C2D3"/>
                </a:solidFill>
              </a:rPr>
              <a:t>Passes SPF, DKIM and DMARC, but the domain is a 9-day-old look-alike. Human confirms; payment PO-4471 held.</a:t>
            </a:r>
            <a:endParaRPr lang="en-US" sz="1500" dirty="0"/>
          </a:p>
        </p:txBody>
      </p:sp>
      <p:sp>
        <p:nvSpPr>
          <p:cNvPr id="12" name="Shape 10"/>
          <p:cNvSpPr/>
          <p:nvPr/>
        </p:nvSpPr>
        <p:spPr>
          <a:xfrm>
            <a:off x="7991856" y="2011680"/>
            <a:ext cx="3383280" cy="3840480"/>
          </a:xfrm>
          <a:prstGeom prst="roundRect">
            <a:avLst>
              <a:gd name="adj" fmla="val 3243"/>
            </a:avLst>
          </a:prstGeom>
          <a:solidFill>
            <a:srgbClr val="1C2740"/>
          </a:solidFill>
          <a:ln w="12700">
            <a:solidFill>
              <a:srgbClr val="2A3756"/>
            </a:solidFill>
            <a:prstDash val="solid"/>
          </a:ln>
        </p:spPr>
      </p:sp>
      <p:sp>
        <p:nvSpPr>
          <p:cNvPr id="13" name="Text 11"/>
          <p:cNvSpPr txBox="1"/>
          <p:nvPr/>
        </p:nvSpPr>
        <p:spPr>
          <a:xfrm>
            <a:off x="8266176" y="2240280"/>
            <a:ext cx="2834640" cy="320040"/>
          </a:xfrm>
          <a:prstGeom prst="rect">
            <a:avLst/>
          </a:prstGeom>
          <a:noFill/>
          <a:ln/>
        </p:spPr>
        <p:txBody>
          <a:bodyPr wrap="square" lIns="0" tIns="0" rIns="0" bIns="0" rtlCol="0" anchor="ctr"/>
          <a:lstStyle/>
          <a:p>
            <a:pPr indent="0" marL="0">
              <a:buNone/>
            </a:pPr>
            <a:r>
              <a:rPr lang="en-US" sz="1300" b="1" dirty="0">
                <a:solidFill>
                  <a:srgbClr val="8FB3F0"/>
                </a:solidFill>
                <a:latin typeface="Courier New" pitchFamily="34" charset="0"/>
                <a:ea typeface="Courier New" pitchFamily="34" charset="-122"/>
                <a:cs typeface="Courier New" pitchFamily="34" charset="-120"/>
              </a:rPr>
              <a:t>E7 · SCORE 0</a:t>
            </a:r>
            <a:endParaRPr lang="en-US" sz="1300" dirty="0"/>
          </a:p>
        </p:txBody>
      </p:sp>
      <p:sp>
        <p:nvSpPr>
          <p:cNvPr id="14" name="Text 12"/>
          <p:cNvSpPr txBox="1"/>
          <p:nvPr/>
        </p:nvSpPr>
        <p:spPr>
          <a:xfrm>
            <a:off x="8266176" y="2651760"/>
            <a:ext cx="2834640" cy="1097280"/>
          </a:xfrm>
          <a:prstGeom prst="rect">
            <a:avLst/>
          </a:prstGeom>
          <a:noFill/>
          <a:ln/>
        </p:spPr>
        <p:txBody>
          <a:bodyPr wrap="square" lIns="0" tIns="0" rIns="0" bIns="0" rtlCol="0" anchor="t"/>
          <a:lstStyle/>
          <a:p>
            <a:pPr indent="0" marL="0">
              <a:buNone/>
            </a:pPr>
            <a:r>
              <a:rPr lang="en-US" sz="2000" b="1" dirty="0">
                <a:solidFill>
                  <a:srgbClr val="F4F2EC"/>
                </a:solidFill>
              </a:rPr>
              <a:t>“You appeared in 12 searches this week”</a:t>
            </a:r>
            <a:endParaRPr lang="en-US" sz="2000" dirty="0"/>
          </a:p>
        </p:txBody>
      </p:sp>
      <p:sp>
        <p:nvSpPr>
          <p:cNvPr id="15" name="Text 13"/>
          <p:cNvSpPr txBox="1"/>
          <p:nvPr/>
        </p:nvSpPr>
        <p:spPr>
          <a:xfrm>
            <a:off x="8266176" y="3840480"/>
            <a:ext cx="2834640" cy="1828800"/>
          </a:xfrm>
          <a:prstGeom prst="rect">
            <a:avLst/>
          </a:prstGeom>
          <a:noFill/>
          <a:ln/>
        </p:spPr>
        <p:txBody>
          <a:bodyPr wrap="square" lIns="0" tIns="0" rIns="0" bIns="0" rtlCol="0" anchor="t"/>
          <a:lstStyle/>
          <a:p>
            <a:pPr indent="0" marL="0">
              <a:lnSpc>
                <a:spcPct val="110000"/>
              </a:lnSpc>
              <a:buNone/>
            </a:pPr>
            <a:r>
              <a:rPr lang="en-US" sz="1500" dirty="0">
                <a:solidFill>
                  <a:srgbClr val="B9C2D3"/>
                </a:solidFill>
              </a:rPr>
              <a:t>A real LinkedIn notification. Closed as safe and the employee is thanked.</a:t>
            </a:r>
            <a:endParaRPr lang="en-US" sz="1500" dirty="0"/>
          </a:p>
        </p:txBody>
      </p:sp>
      <p:sp>
        <p:nvSpPr>
          <p:cNvPr id="17" name="Text 0"/>
          <p:cNvSpPr/>
          <p:nvPr>
            <p:ph idx="100" type="title" hasCustomPrompt="1"/>
          </p:nvPr>
        </p:nvSpPr>
        <p:spPr>
          <a:xfrm>
            <a:off x="731520" y="2011680"/>
            <a:ext cx="10698480" cy="1280160"/>
          </a:xfrm>
          <a:prstGeom prst="rect">
            <a:avLst/>
          </a:prstGeom>
          <a:noFill/>
          <a:ln/>
        </p:spPr>
        <p:txBody>
          <a:bodyPr wrap="square" lIns="0" tIns="0" rIns="0" bIns="0" rtlCol="0"/>
          <a:lstStyle/>
          <a:p>
            <a:pPr algn="l" indent="0" marL="0">
              <a:buNone/>
            </a:pPr>
            <a:endParaRPr lang="en-US" sz="6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urier New" pitchFamily="34" charset="0"/>
                <a:ea typeface="Courier New" pitchFamily="34" charset="-122"/>
                <a:cs typeface="Courier New" pitchFamily="34" charset="-120"/>
              </a:rPr>
              <a:t>RESULTS ON DUMMY DATA</a:t>
            </a:r>
            <a:endParaRPr lang="en-US" sz="1300" dirty="0"/>
          </a:p>
        </p:txBody>
      </p:sp>
      <p:sp>
        <p:nvSpPr>
          <p:cNvPr id="3" name="Text 0"/>
          <p:cNvSpPr/>
          <p:nvPr>
            <p:ph idx="100" type="title" hasCustomPrompt="1"/>
          </p:nvPr>
        </p:nvSpPr>
        <p:spPr>
          <a:xfrm>
            <a:off x="731520" y="777240"/>
            <a:ext cx="10698480" cy="822960"/>
          </a:xfrm>
          <a:prstGeom prst="rect">
            <a:avLst/>
          </a:prstGeom>
          <a:noFill/>
          <a:ln/>
        </p:spPr>
        <p:txBody>
          <a:bodyPr wrap="square" lIns="0" tIns="0" rIns="0" bIns="0" rtlCol="0" anchor="t"/>
          <a:lstStyle/>
          <a:p>
            <a:pPr algn="l" indent="0" marL="0">
              <a:buNone/>
            </a:pPr>
            <a:r>
              <a:rPr lang="en-US" sz="3200" b="1" dirty="0">
                <a:solidFill>
                  <a:srgbClr val="121A2B"/>
                </a:solidFill>
              </a:rPr>
              <a:t>All 7 test emails routed correctly, with no false alarms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698480" cy="914400"/>
        </p:xfrm>
        <a:graphic>
          <a:graphicData uri="http://schemas.openxmlformats.org/drawingml/2006/table">
            <a:tbl>
              <a:tblPr/>
              <a:tblGrid>
                <a:gridCol w="3291840"/>
                <a:gridCol w="2286000"/>
                <a:gridCol w="914400"/>
                <a:gridCol w="4206240"/>
              </a:tblGrid>
              <a:tr h="438912">
                <a:tc>
                  <a:txBody>
                    <a:bodyPr/>
                    <a:lstStyle/>
                    <a:p>
                      <a:pPr indent="0" marL="0">
                        <a:buNone/>
                      </a:pPr>
                      <a:r>
                        <a:rPr lang="en-US" sz="1400" b="1" dirty="0">
                          <a:solidFill>
                            <a:srgbClr val="FFFFFF"/>
                          </a:solidFill>
                        </a:rPr>
                        <a:t>Reported email</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121A2B"/>
                    </a:solidFill>
                  </a:tcPr>
                </a:tc>
                <a:tc>
                  <a:txBody>
                    <a:bodyPr/>
                    <a:lstStyle/>
                    <a:p>
                      <a:pPr indent="0" marL="0">
                        <a:buNone/>
                      </a:pPr>
                      <a:r>
                        <a:rPr lang="en-US" sz="1400" b="1" dirty="0">
                          <a:solidFill>
                            <a:srgbClr val="FFFFFF"/>
                          </a:solidFill>
                        </a:rPr>
                        <a:t>Attack</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121A2B"/>
                    </a:solidFill>
                  </a:tcPr>
                </a:tc>
                <a:tc>
                  <a:txBody>
                    <a:bodyPr/>
                    <a:lstStyle/>
                    <a:p>
                      <a:pPr indent="0" marL="0">
                        <a:buNone/>
                      </a:pPr>
                      <a:r>
                        <a:rPr lang="en-US" sz="1400" b="1" dirty="0">
                          <a:solidFill>
                            <a:srgbClr val="FFFFFF"/>
                          </a:solidFill>
                        </a:rPr>
                        <a:t>Score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121A2B"/>
                    </a:solidFill>
                  </a:tcPr>
                </a:tc>
                <a:tc>
                  <a:txBody>
                    <a:bodyPr/>
                    <a:lstStyle/>
                    <a:p>
                      <a:pPr indent="0" marL="0">
                        <a:buNone/>
                      </a:pPr>
                      <a:r>
                        <a:rPr lang="en-US" sz="1400" b="1" dirty="0">
                          <a:solidFill>
                            <a:srgbClr val="FFFFFF"/>
                          </a:solidFill>
                        </a:rPr>
                        <a:t>Outcome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121A2B"/>
                    </a:solidFill>
                  </a:tcPr>
                </a:tc>
              </a:tr>
              <a:tr h="438912">
                <a:tc>
                  <a:txBody>
                    <a:bodyPr/>
                    <a:lstStyle/>
                    <a:p>
                      <a:pPr indent="0" marL="0">
                        <a:buNone/>
                      </a:pPr>
                      <a:r>
                        <a:rPr lang="en-US" sz="1400" dirty="0">
                          <a:solidFill>
                            <a:srgbClr val="121A2B"/>
                          </a:solidFill>
                        </a:rPr>
                        <a:t>E1 · M365 password expiry</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Credential phishing</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100</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Auto-contained · 14 mailboxes, 1 reset</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38912">
                <a:tc>
                  <a:txBody>
                    <a:bodyPr/>
                    <a:lstStyle/>
                    <a:p>
                      <a:pPr indent="0" marL="0">
                        <a:buNone/>
                      </a:pPr>
                      <a:r>
                        <a:rPr lang="en-US" sz="1400" dirty="0">
                          <a:solidFill>
                            <a:srgbClr val="121A2B"/>
                          </a:solidFill>
                        </a:rPr>
                        <a:t>E2 · “Quick favour” from fake CEO</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CEO fraud (BEC)</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90</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Auto-contained · finance alerted</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38912">
                <a:tc>
                  <a:txBody>
                    <a:bodyPr/>
                    <a:lstStyle/>
                    <a:p>
                      <a:pPr indent="0" marL="0">
                        <a:buNone/>
                      </a:pPr>
                      <a:r>
                        <a:rPr lang="en-US" sz="1400" dirty="0">
                          <a:solidFill>
                            <a:srgbClr val="121A2B"/>
                          </a:solidFill>
                        </a:rPr>
                        <a:t>E3 · HR Diwali celebration</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None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0</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Closed as safe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38912">
                <a:tc>
                  <a:txBody>
                    <a:bodyPr/>
                    <a:lstStyle/>
                    <a:p>
                      <a:pPr indent="0" marL="0">
                        <a:buNone/>
                      </a:pPr>
                      <a:r>
                        <a:rPr lang="en-US" sz="1400" dirty="0">
                          <a:solidFill>
                            <a:srgbClr val="121A2B"/>
                          </a:solidFill>
                        </a:rPr>
                        <a:t>E4 · Overdue invoice .pdf.exe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Malware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100</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Auto-contained · laptop isolated</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38912">
                <a:tc>
                  <a:txBody>
                    <a:bodyPr/>
                    <a:lstStyle/>
                    <a:p>
                      <a:pPr indent="0" marL="0">
                        <a:buNone/>
                      </a:pPr>
                      <a:r>
                        <a:rPr lang="en-US" sz="1400" dirty="0">
                          <a:solidFill>
                            <a:srgbClr val="121A2B"/>
                          </a:solidFill>
                        </a:rPr>
                        <a:t>E5 · Vendor bank-detail change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Payment fraud</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65</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Human confirmed · PO-4471 held</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38912">
                <a:tc>
                  <a:txBody>
                    <a:bodyPr/>
                    <a:lstStyle/>
                    <a:p>
                      <a:pPr indent="0" marL="0">
                        <a:buNone/>
                      </a:pPr>
                      <a:r>
                        <a:rPr lang="en-US" sz="1400" dirty="0">
                          <a:solidFill>
                            <a:srgbClr val="121A2B"/>
                          </a:solidFill>
                        </a:rPr>
                        <a:t>E6 · Rs 25 parcel fee (bit.ly)</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Payment scam</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100</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Auto-contained · real link blocked</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38912">
                <a:tc>
                  <a:txBody>
                    <a:bodyPr/>
                    <a:lstStyle/>
                    <a:p>
                      <a:pPr indent="0" marL="0">
                        <a:buNone/>
                      </a:pPr>
                      <a:r>
                        <a:rPr lang="en-US" sz="1400" dirty="0">
                          <a:solidFill>
                            <a:srgbClr val="121A2B"/>
                          </a:solidFill>
                        </a:rPr>
                        <a:t>E7 · LinkedIn notification</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None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0</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400" dirty="0">
                          <a:solidFill>
                            <a:srgbClr val="121A2B"/>
                          </a:solidFill>
                        </a:rPr>
                        <a:t>Closed as safe</a:t>
                      </a:r>
                      <a:endParaRPr lang="en-US" sz="1400" dirty="0"/>
                    </a:p>
                  </a:txBody>
                  <a:tcPr marL="73152" marR="73152" marT="73152" marB="73152">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bl>
          </a:graphicData>
        </a:graphic>
      </p:graphicFrame>
      <p:sp>
        <p:nvSpPr>
          <p:cNvPr id="5" name="Text 2"/>
          <p:cNvSpPr txBox="1"/>
          <p:nvPr/>
        </p:nvSpPr>
        <p:spPr>
          <a:xfrm>
            <a:off x="731520" y="5623560"/>
            <a:ext cx="10698480" cy="365760"/>
          </a:xfrm>
          <a:prstGeom prst="rect">
            <a:avLst/>
          </a:prstGeom>
          <a:noFill/>
          <a:ln/>
        </p:spPr>
        <p:txBody>
          <a:bodyPr wrap="square" lIns="0" tIns="0" rIns="0" bIns="0" rtlCol="0" anchor="ctr"/>
          <a:lstStyle/>
          <a:p>
            <a:pPr indent="0" marL="0">
              <a:buNone/>
            </a:pPr>
            <a:r>
              <a:rPr lang="en-US" sz="1400" dirty="0">
                <a:solidFill>
                  <a:srgbClr val="4A5263"/>
                </a:solidFill>
              </a:rPr>
              <a:t>4 auto-contained · 1 sent to a human · 2 closed as safe. Measured in offline mode; Gemini mode uses the same scoring.</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11480"/>
            <a:ext cx="10058400" cy="32004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urier New" pitchFamily="34" charset="0"/>
                <a:ea typeface="Courier New" pitchFamily="34" charset="-122"/>
                <a:cs typeface="Courier New" pitchFamily="34" charset="-120"/>
              </a:rPr>
              <a:t>STACK, LIMITS, NEXT STEPS</a:t>
            </a:r>
            <a:endParaRPr lang="en-US" sz="1300" dirty="0"/>
          </a:p>
        </p:txBody>
      </p:sp>
      <p:sp>
        <p:nvSpPr>
          <p:cNvPr id="3" name="Text 0"/>
          <p:cNvSpPr/>
          <p:nvPr>
            <p:ph idx="100" type="title" hasCustomPrompt="1"/>
          </p:nvPr>
        </p:nvSpPr>
        <p:spPr>
          <a:xfrm>
            <a:off x="731520" y="777240"/>
            <a:ext cx="10698480" cy="822960"/>
          </a:xfrm>
          <a:prstGeom prst="rect">
            <a:avLst/>
          </a:prstGeom>
          <a:noFill/>
          <a:ln/>
        </p:spPr>
        <p:txBody>
          <a:bodyPr wrap="square" lIns="0" tIns="0" rIns="0" bIns="0" rtlCol="0" anchor="t"/>
          <a:lstStyle/>
          <a:p>
            <a:pPr algn="l" indent="0" marL="0">
              <a:buNone/>
            </a:pPr>
            <a:r>
              <a:rPr lang="en-US" sz="3200" b="1" dirty="0">
                <a:solidFill>
                  <a:srgbClr val="121A2B"/>
                </a:solidFill>
              </a:rPr>
              <a:t>A working proof of concept, ready to connect to real systems</a:t>
            </a:r>
            <a:endParaRPr lang="en-US" sz="3200" dirty="0"/>
          </a:p>
        </p:txBody>
      </p:sp>
      <p:sp>
        <p:nvSpPr>
          <p:cNvPr id="4" name="Shape 2"/>
          <p:cNvSpPr/>
          <p:nvPr/>
        </p:nvSpPr>
        <p:spPr>
          <a:xfrm>
            <a:off x="731520" y="2103120"/>
            <a:ext cx="3383280" cy="3291840"/>
          </a:xfrm>
          <a:prstGeom prst="roundRect">
            <a:avLst>
              <a:gd name="adj" fmla="val 3333"/>
            </a:avLst>
          </a:prstGeom>
          <a:solidFill>
            <a:srgbClr val="F3F5F8"/>
          </a:solidFill>
          <a:ln w="12700">
            <a:solidFill>
              <a:srgbClr val="DDE1E8"/>
            </a:solidFill>
            <a:prstDash val="solid"/>
          </a:ln>
        </p:spPr>
      </p:sp>
      <p:sp>
        <p:nvSpPr>
          <p:cNvPr id="5" name="Text 3"/>
          <p:cNvSpPr txBox="1"/>
          <p:nvPr/>
        </p:nvSpPr>
        <p:spPr>
          <a:xfrm>
            <a:off x="1005840" y="2331720"/>
            <a:ext cx="2834640" cy="457200"/>
          </a:xfrm>
          <a:prstGeom prst="rect">
            <a:avLst/>
          </a:prstGeom>
          <a:noFill/>
          <a:ln/>
        </p:spPr>
        <p:txBody>
          <a:bodyPr wrap="square" lIns="0" tIns="0" rIns="0" bIns="0" rtlCol="0" anchor="ctr"/>
          <a:lstStyle/>
          <a:p>
            <a:pPr indent="0" marL="0">
              <a:buNone/>
            </a:pPr>
            <a:r>
              <a:rPr lang="en-US" sz="2200" b="1" dirty="0">
                <a:solidFill>
                  <a:srgbClr val="121A2B"/>
                </a:solidFill>
              </a:rPr>
              <a:t>Built with</a:t>
            </a:r>
            <a:endParaRPr lang="en-US" sz="2200" dirty="0"/>
          </a:p>
        </p:txBody>
      </p:sp>
      <p:sp>
        <p:nvSpPr>
          <p:cNvPr id="6" name="Text 4"/>
          <p:cNvSpPr txBox="1"/>
          <p:nvPr/>
        </p:nvSpPr>
        <p:spPr>
          <a:xfrm>
            <a:off x="1005840" y="2926080"/>
            <a:ext cx="283464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263"/>
                </a:solidFill>
              </a:rPr>
              <a:t>LangGraph: parallel agents, routing, interrupt()</a:t>
            </a:r>
            <a:endParaRPr lang="en-US" sz="1500" dirty="0"/>
          </a:p>
          <a:p>
            <a:pPr marL="342900" indent="-342900">
              <a:spcAft>
                <a:spcPts val="800"/>
              </a:spcAft>
              <a:buSzPct val="100000"/>
              <a:buChar char="•"/>
            </a:pPr>
            <a:r>
              <a:rPr lang="en-US" sz="1500" dirty="0">
                <a:solidFill>
                  <a:srgbClr val="4A5263"/>
                </a:solidFill>
              </a:rPr>
              <a:t>Gemini 2.5 Flash (free tier)</a:t>
            </a:r>
            <a:endParaRPr lang="en-US" sz="1500" dirty="0"/>
          </a:p>
          <a:p>
            <a:pPr marL="342900" indent="-342900">
              <a:spcAft>
                <a:spcPts val="800"/>
              </a:spcAft>
              <a:buSzPct val="100000"/>
              <a:buChar char="•"/>
            </a:pPr>
            <a:r>
              <a:rPr lang="en-US" sz="1500" dirty="0">
                <a:solidFill>
                  <a:srgbClr val="4A5263"/>
                </a:solidFill>
              </a:rPr>
              <a:t>Offline rule-based fallback</a:t>
            </a:r>
            <a:endParaRPr lang="en-US" sz="1500" dirty="0"/>
          </a:p>
          <a:p>
            <a:pPr marL="342900" indent="-342900">
              <a:spcAft>
                <a:spcPts val="800"/>
              </a:spcAft>
              <a:buSzPct val="100000"/>
              <a:buChar char="•"/>
            </a:pPr>
            <a:r>
              <a:rPr lang="en-US" sz="1500" dirty="0">
                <a:solidFill>
                  <a:srgbClr val="4A5263"/>
                </a:solidFill>
              </a:rPr>
              <a:t>Streamlit UI, dummy JSON data</a:t>
            </a:r>
            <a:endParaRPr lang="en-US" sz="1500" dirty="0"/>
          </a:p>
        </p:txBody>
      </p:sp>
      <p:sp>
        <p:nvSpPr>
          <p:cNvPr id="7" name="Shape 5"/>
          <p:cNvSpPr/>
          <p:nvPr/>
        </p:nvSpPr>
        <p:spPr>
          <a:xfrm>
            <a:off x="4361688" y="2103120"/>
            <a:ext cx="3383280" cy="3291840"/>
          </a:xfrm>
          <a:prstGeom prst="roundRect">
            <a:avLst>
              <a:gd name="adj" fmla="val 3333"/>
            </a:avLst>
          </a:prstGeom>
          <a:solidFill>
            <a:srgbClr val="F3F5F8"/>
          </a:solidFill>
          <a:ln w="12700">
            <a:solidFill>
              <a:srgbClr val="DDE1E8"/>
            </a:solidFill>
            <a:prstDash val="solid"/>
          </a:ln>
        </p:spPr>
      </p:sp>
      <p:sp>
        <p:nvSpPr>
          <p:cNvPr id="8" name="Text 6"/>
          <p:cNvSpPr txBox="1"/>
          <p:nvPr/>
        </p:nvSpPr>
        <p:spPr>
          <a:xfrm>
            <a:off x="4636008" y="2331720"/>
            <a:ext cx="2834640" cy="457200"/>
          </a:xfrm>
          <a:prstGeom prst="rect">
            <a:avLst/>
          </a:prstGeom>
          <a:noFill/>
          <a:ln/>
        </p:spPr>
        <p:txBody>
          <a:bodyPr wrap="square" lIns="0" tIns="0" rIns="0" bIns="0" rtlCol="0" anchor="ctr"/>
          <a:lstStyle/>
          <a:p>
            <a:pPr indent="0" marL="0">
              <a:buNone/>
            </a:pPr>
            <a:r>
              <a:rPr lang="en-US" sz="2200" b="1" dirty="0">
                <a:solidFill>
                  <a:srgbClr val="121A2B"/>
                </a:solidFill>
              </a:rPr>
              <a:t>Limitations</a:t>
            </a:r>
            <a:endParaRPr lang="en-US" sz="2200" dirty="0"/>
          </a:p>
        </p:txBody>
      </p:sp>
      <p:sp>
        <p:nvSpPr>
          <p:cNvPr id="9" name="Text 7"/>
          <p:cNvSpPr txBox="1"/>
          <p:nvPr/>
        </p:nvSpPr>
        <p:spPr>
          <a:xfrm>
            <a:off x="4636008" y="2926080"/>
            <a:ext cx="283464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263"/>
                </a:solidFill>
              </a:rPr>
              <a:t>Hand-set weights and thresholds</a:t>
            </a:r>
            <a:endParaRPr lang="en-US" sz="1500" dirty="0"/>
          </a:p>
          <a:p>
            <a:pPr marL="342900" indent="-342900">
              <a:spcAft>
                <a:spcPts val="800"/>
              </a:spcAft>
              <a:buSzPct val="100000"/>
              <a:buChar char="•"/>
            </a:pPr>
            <a:r>
              <a:rPr lang="en-US" sz="1500" dirty="0">
                <a:solidFill>
                  <a:srgbClr val="4A5263"/>
                </a:solidFill>
              </a:rPr>
              <a:t>Static dummy threat intel and logs</a:t>
            </a:r>
            <a:endParaRPr lang="en-US" sz="1500" dirty="0"/>
          </a:p>
          <a:p>
            <a:pPr marL="342900" indent="-342900">
              <a:spcAft>
                <a:spcPts val="800"/>
              </a:spcAft>
              <a:buSzPct val="100000"/>
              <a:buChar char="•"/>
            </a:pPr>
            <a:r>
              <a:rPr lang="en-US" sz="1500" dirty="0">
                <a:solidFill>
                  <a:srgbClr val="4A5263"/>
                </a:solidFill>
              </a:rPr>
              <a:t>Actions are simulated</a:t>
            </a:r>
            <a:endParaRPr lang="en-US" sz="1500" dirty="0"/>
          </a:p>
          <a:p>
            <a:pPr marL="342900" indent="-342900">
              <a:spcAft>
                <a:spcPts val="800"/>
              </a:spcAft>
              <a:buSzPct val="100000"/>
              <a:buChar char="•"/>
            </a:pPr>
            <a:r>
              <a:rPr lang="en-US" sz="1500" dirty="0">
                <a:solidFill>
                  <a:srgbClr val="4A5263"/>
                </a:solidFill>
              </a:rPr>
              <a:t>Only 7 test emails</a:t>
            </a:r>
            <a:endParaRPr lang="en-US" sz="1500" dirty="0"/>
          </a:p>
        </p:txBody>
      </p:sp>
      <p:sp>
        <p:nvSpPr>
          <p:cNvPr id="10" name="Shape 8"/>
          <p:cNvSpPr/>
          <p:nvPr/>
        </p:nvSpPr>
        <p:spPr>
          <a:xfrm>
            <a:off x="7991856" y="2103120"/>
            <a:ext cx="3383280" cy="3291840"/>
          </a:xfrm>
          <a:prstGeom prst="roundRect">
            <a:avLst>
              <a:gd name="adj" fmla="val 3333"/>
            </a:avLst>
          </a:prstGeom>
          <a:solidFill>
            <a:srgbClr val="F3F5F8"/>
          </a:solidFill>
          <a:ln w="12700">
            <a:solidFill>
              <a:srgbClr val="DDE1E8"/>
            </a:solidFill>
            <a:prstDash val="solid"/>
          </a:ln>
        </p:spPr>
      </p:sp>
      <p:sp>
        <p:nvSpPr>
          <p:cNvPr id="11" name="Text 9"/>
          <p:cNvSpPr txBox="1"/>
          <p:nvPr/>
        </p:nvSpPr>
        <p:spPr>
          <a:xfrm>
            <a:off x="8266176" y="2331720"/>
            <a:ext cx="2834640" cy="457200"/>
          </a:xfrm>
          <a:prstGeom prst="rect">
            <a:avLst/>
          </a:prstGeom>
          <a:noFill/>
          <a:ln/>
        </p:spPr>
        <p:txBody>
          <a:bodyPr wrap="square" lIns="0" tIns="0" rIns="0" bIns="0" rtlCol="0" anchor="ctr"/>
          <a:lstStyle/>
          <a:p>
            <a:pPr indent="0" marL="0">
              <a:buNone/>
            </a:pPr>
            <a:r>
              <a:rPr lang="en-US" sz="2200" b="1" dirty="0">
                <a:solidFill>
                  <a:srgbClr val="121A2B"/>
                </a:solidFill>
              </a:rPr>
              <a:t>Next steps</a:t>
            </a:r>
            <a:endParaRPr lang="en-US" sz="2200" dirty="0"/>
          </a:p>
        </p:txBody>
      </p:sp>
      <p:sp>
        <p:nvSpPr>
          <p:cNvPr id="12" name="Text 10"/>
          <p:cNvSpPr txBox="1"/>
          <p:nvPr/>
        </p:nvSpPr>
        <p:spPr>
          <a:xfrm>
            <a:off x="8266176" y="2926080"/>
            <a:ext cx="283464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263"/>
                </a:solidFill>
              </a:rPr>
              <a:t>Real APIs: Microsoft Graph, VirusTotal, Jira</a:t>
            </a:r>
            <a:endParaRPr lang="en-US" sz="1500" dirty="0"/>
          </a:p>
          <a:p>
            <a:pPr marL="342900" indent="-342900">
              <a:spcAft>
                <a:spcPts val="800"/>
              </a:spcAft>
              <a:buSzPct val="100000"/>
              <a:buChar char="•"/>
            </a:pPr>
            <a:r>
              <a:rPr lang="en-US" sz="1500" dirty="0">
                <a:solidFill>
                  <a:srgbClr val="4A5263"/>
                </a:solidFill>
              </a:rPr>
              <a:t>Sandbox links and attachments</a:t>
            </a:r>
            <a:endParaRPr lang="en-US" sz="1500" dirty="0"/>
          </a:p>
          <a:p>
            <a:pPr marL="342900" indent="-342900">
              <a:spcAft>
                <a:spcPts val="800"/>
              </a:spcAft>
              <a:buSzPct val="100000"/>
              <a:buChar char="•"/>
            </a:pPr>
            <a:r>
              <a:rPr lang="en-US" sz="1500" dirty="0">
                <a:solidFill>
                  <a:srgbClr val="4A5263"/>
                </a:solidFill>
              </a:rPr>
              <a:t>Learn weights from analyst decisions</a:t>
            </a:r>
            <a:endParaRPr lang="en-US" sz="1500" dirty="0"/>
          </a:p>
          <a:p>
            <a:pPr marL="342900" indent="-342900">
              <a:spcAft>
                <a:spcPts val="800"/>
              </a:spcAft>
              <a:buSzPct val="100000"/>
              <a:buChar char="•"/>
            </a:pPr>
            <a:r>
              <a:rPr lang="en-US" sz="1500" dirty="0">
                <a:solidFill>
                  <a:srgbClr val="4A5263"/>
                </a:solidFill>
              </a:rPr>
              <a:t>Remember past campaigns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26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lIns="0" tIns="0" rIns="0" bIns="0" rtlCol="0"/>
          <a:lstStyle/>
          <a:p>
            <a:pPr algn="l" indent="0" marL="0">
              <a:buNone/>
            </a:pPr>
            <a:r>
              <a:rPr lang="en-US" sz="6000" b="1" dirty="0">
                <a:solidFill>
                  <a:srgbClr val="F4F2EC"/>
                </a:solidFill>
              </a:rPr>
              <a:t>Thank you</a:t>
            </a:r>
            <a:endParaRPr lang="en-US" sz="6000" dirty="0"/>
          </a:p>
        </p:txBody>
      </p:sp>
      <p:sp>
        <p:nvSpPr>
          <p:cNvPr id="3" name="Text 1"/>
          <p:cNvSpPr txBox="1"/>
          <p:nvPr/>
        </p:nvSpPr>
        <p:spPr>
          <a:xfrm>
            <a:off x="731520" y="3291840"/>
            <a:ext cx="9144000" cy="914400"/>
          </a:xfrm>
          <a:prstGeom prst="rect">
            <a:avLst/>
          </a:prstGeom>
          <a:noFill/>
          <a:ln/>
        </p:spPr>
        <p:txBody>
          <a:bodyPr wrap="square" lIns="0" tIns="0" rIns="0" bIns="0" rtlCol="0" anchor="ctr"/>
          <a:lstStyle/>
          <a:p>
            <a:pPr indent="0" marL="0">
              <a:buNone/>
            </a:pPr>
            <a:r>
              <a:rPr lang="en-US" sz="2200" dirty="0">
                <a:solidFill>
                  <a:srgbClr val="B9C2D3"/>
                </a:solidFill>
              </a:rPr>
              <a:t>PhishHunter turns a slow manual queue into seconds of automated triage, and keeps a human in charge of the hard calls.</a:t>
            </a:r>
            <a:endParaRPr lang="en-US" sz="2200" dirty="0"/>
          </a:p>
        </p:txBody>
      </p:sp>
      <p:sp>
        <p:nvSpPr>
          <p:cNvPr id="4" name="Text 2"/>
          <p:cNvSpPr txBox="1"/>
          <p:nvPr/>
        </p:nvSpPr>
        <p:spPr>
          <a:xfrm>
            <a:off x="731520" y="4480560"/>
            <a:ext cx="4572000" cy="457200"/>
          </a:xfrm>
          <a:prstGeom prst="rect">
            <a:avLst/>
          </a:prstGeom>
          <a:noFill/>
          <a:ln/>
        </p:spPr>
        <p:txBody>
          <a:bodyPr wrap="square" lIns="0" tIns="0" rIns="0" bIns="0" rtlCol="0" anchor="ctr"/>
          <a:lstStyle/>
          <a:p>
            <a:pPr indent="0" marL="0">
              <a:buNone/>
            </a:pPr>
            <a:r>
              <a:rPr lang="en-US" sz="1800" b="1" dirty="0">
                <a:solidFill>
                  <a:srgbClr val="E8833A"/>
                </a:solidFill>
                <a:latin typeface="Courier New" pitchFamily="34" charset="0"/>
                <a:ea typeface="Courier New" pitchFamily="34" charset="-122"/>
                <a:cs typeface="Courier New" pitchFamily="34" charset="-120"/>
              </a:rPr>
              <a:t>Questions?</a:t>
            </a:r>
            <a:endParaRPr lang="en-US" sz="1800" dirty="0"/>
          </a:p>
        </p:txBody>
      </p:sp>
    </p:spTree>
  </p:cSld>
  <p:clrMapOvr>
    <a:masterClrMapping/>
  </p:clrMapOvr>
</p:sld>
</file>

<file path=ppt/theme/theme1.xml><?xml version="1.0" encoding="utf-8"?>
<a:theme xmlns:a="http://schemas.openxmlformats.org/drawingml/2006/main" name="PhishHunter">
  <a:themeElements>
    <a:clrScheme name="PhishHunter">
      <a:dk1>
        <a:srgbClr val="121A2B"/>
      </a:dk1>
      <a:lt1>
        <a:srgbClr val="FFFFFF"/>
      </a:lt1>
      <a:dk2>
        <a:srgbClr val="4A5263"/>
      </a:dk2>
      <a:lt2>
        <a:srgbClr val="F3F5F8"/>
      </a:lt2>
      <a:accent1>
        <a:srgbClr val="E8833A"/>
      </a:accent1>
      <a:accent2>
        <a:srgbClr val="2F6FDE"/>
      </a:accent2>
      <a:accent3>
        <a:srgbClr val="F2C07A"/>
      </a:accent3>
      <a:accent4>
        <a:srgbClr val="8FB3F0"/>
      </a:accent4>
      <a:accent5>
        <a:srgbClr val="B4531A"/>
      </a:accent5>
      <a:accent6>
        <a:srgbClr val="1C2740"/>
      </a:accent6>
      <a:hlink>
        <a:srgbClr val="2F6FDE"/>
      </a:hlink>
      <a:folHlink>
        <a:srgbClr val="6A4FB3"/>
      </a:folHlink>
    </a:clrScheme>
    <a:fontScheme name="PhishHunt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PhishHunter - FAAI CA-3</dc:title>
  <dc:subject>PptxGenJS Presentation</dc:subject>
  <dc:creator>PptxGenJS</dc:creator>
  <cp:lastModifiedBy>PptxGenJS</cp:lastModifiedBy>
  <cp:revision>1</cp:revision>
  <dcterms:created xsi:type="dcterms:W3CDTF">2026-10-20T17:35:39Z</dcterms:created>
  <dcterms:modified xsi:type="dcterms:W3CDTF">2026-10-20T17:35:39Z</dcterms:modified>
</cp:coreProperties>
</file>